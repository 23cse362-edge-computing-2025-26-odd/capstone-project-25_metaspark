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tkinson Hyperlegible Bold" panose="020B0604020202020204" charset="0"/>
      <p:regular r:id="rId22"/>
    </p:embeddedFont>
    <p:embeddedFont>
      <p:font typeface="Canva Sans" panose="020B0604020202020204" charset="0"/>
      <p:regular r:id="rId23"/>
    </p:embeddedFont>
    <p:embeddedFont>
      <p:font typeface="Canva Sans Bold" panose="020B0604020202020204" charset="0"/>
      <p:regular r:id="rId24"/>
    </p:embeddedFont>
    <p:embeddedFont>
      <p:font typeface="DM Sans" pitchFamily="2" charset="0"/>
      <p:regular r:id="rId25"/>
    </p:embeddedFont>
    <p:embeddedFont>
      <p:font typeface="DM Sans Bold" panose="020B0604020202020204" charset="0"/>
      <p:regular r:id="rId26"/>
    </p:embeddedFont>
    <p:embeddedFont>
      <p:font typeface="Open Sans" panose="020B0606030504020204" pitchFamily="34" charset="0"/>
      <p:regular r:id="rId27"/>
    </p:embeddedFont>
    <p:embeddedFont>
      <p:font typeface="Open Sans Light" panose="020B0306030504020204" pitchFamily="34" charset="0"/>
      <p:regular r:id="rId28"/>
    </p:embeddedFont>
    <p:embeddedFont>
      <p:font typeface="Poppins" panose="00000500000000000000" pitchFamily="2" charset="0"/>
      <p:regular r:id="rId29"/>
    </p:embeddedFont>
    <p:embeddedFont>
      <p:font typeface="Poppins Bold" panose="020B0604020202020204" charset="0"/>
      <p:regular r:id="rId30"/>
    </p:embeddedFont>
    <p:embeddedFont>
      <p:font typeface="Poppins Semi-Bold" panose="020B0604020202020204" charset="0"/>
      <p:regular r:id="rId31"/>
    </p:embeddedFont>
    <p:embeddedFont>
      <p:font typeface="Public Sans" panose="020B0604020202020204" charset="0"/>
      <p:regular r:id="rId32"/>
    </p:embeddedFont>
    <p:embeddedFont>
      <p:font typeface="Public Sans Bold" panose="020B0604020202020204" charset="0"/>
      <p:regular r:id="rId33"/>
    </p:embeddedFont>
    <p:embeddedFont>
      <p:font typeface="Public Sans Bold Italics" panose="020B0604020202020204" charset="0"/>
      <p:regular r:id="rId34"/>
    </p:embeddedFont>
    <p:embeddedFont>
      <p:font typeface="Public Sans Italics"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38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14.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6.sv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01622" y="-767350"/>
            <a:ext cx="22013892" cy="12354774"/>
          </a:xfrm>
          <a:custGeom>
            <a:avLst/>
            <a:gdLst/>
            <a:ahLst/>
            <a:cxnLst/>
            <a:rect l="l" t="t" r="r" b="b"/>
            <a:pathLst>
              <a:path w="22013892" h="12354774">
                <a:moveTo>
                  <a:pt x="0" y="0"/>
                </a:moveTo>
                <a:lnTo>
                  <a:pt x="22013891" y="0"/>
                </a:lnTo>
                <a:lnTo>
                  <a:pt x="22013891" y="12354775"/>
                </a:lnTo>
                <a:lnTo>
                  <a:pt x="0" y="12354775"/>
                </a:lnTo>
                <a:lnTo>
                  <a:pt x="0" y="0"/>
                </a:lnTo>
                <a:close/>
              </a:path>
            </a:pathLst>
          </a:custGeom>
          <a:blipFill>
            <a:blip r:embed="rId2"/>
            <a:stretch>
              <a:fillRect t="-9467" b="-9467"/>
            </a:stretch>
          </a:blipFill>
        </p:spPr>
      </p:sp>
      <p:grpSp>
        <p:nvGrpSpPr>
          <p:cNvPr id="3" name="Group 3"/>
          <p:cNvGrpSpPr/>
          <p:nvPr/>
        </p:nvGrpSpPr>
        <p:grpSpPr>
          <a:xfrm>
            <a:off x="-1727502" y="-624613"/>
            <a:ext cx="22453902" cy="11711713"/>
            <a:chOff x="0" y="0"/>
            <a:chExt cx="5913785" cy="3084566"/>
          </a:xfrm>
        </p:grpSpPr>
        <p:sp>
          <p:nvSpPr>
            <p:cNvPr id="4" name="Freeform 4"/>
            <p:cNvSpPr/>
            <p:nvPr/>
          </p:nvSpPr>
          <p:spPr>
            <a:xfrm>
              <a:off x="0" y="0"/>
              <a:ext cx="5913785" cy="3084567"/>
            </a:xfrm>
            <a:custGeom>
              <a:avLst/>
              <a:gdLst/>
              <a:ahLst/>
              <a:cxnLst/>
              <a:rect l="l" t="t" r="r" b="b"/>
              <a:pathLst>
                <a:path w="5913785" h="3084567">
                  <a:moveTo>
                    <a:pt x="0" y="0"/>
                  </a:moveTo>
                  <a:lnTo>
                    <a:pt x="5913785" y="0"/>
                  </a:lnTo>
                  <a:lnTo>
                    <a:pt x="5913785" y="3084567"/>
                  </a:lnTo>
                  <a:lnTo>
                    <a:pt x="0" y="3084567"/>
                  </a:lnTo>
                  <a:close/>
                </a:path>
              </a:pathLst>
            </a:custGeom>
            <a:solidFill>
              <a:srgbClr val="AAD7D4">
                <a:alpha val="28627"/>
              </a:srgbClr>
            </a:solidFill>
          </p:spPr>
        </p:sp>
        <p:sp>
          <p:nvSpPr>
            <p:cNvPr id="5" name="TextBox 5"/>
            <p:cNvSpPr txBox="1"/>
            <p:nvPr/>
          </p:nvSpPr>
          <p:spPr>
            <a:xfrm>
              <a:off x="0" y="-38100"/>
              <a:ext cx="5913785" cy="312266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6771707" y="5410038"/>
            <a:ext cx="3969596" cy="648301"/>
            <a:chOff x="0" y="0"/>
            <a:chExt cx="1045490" cy="170746"/>
          </a:xfrm>
        </p:grpSpPr>
        <p:sp>
          <p:nvSpPr>
            <p:cNvPr id="7" name="Freeform 7"/>
            <p:cNvSpPr/>
            <p:nvPr/>
          </p:nvSpPr>
          <p:spPr>
            <a:xfrm>
              <a:off x="0" y="0"/>
              <a:ext cx="1045490" cy="170746"/>
            </a:xfrm>
            <a:custGeom>
              <a:avLst/>
              <a:gdLst/>
              <a:ahLst/>
              <a:cxnLst/>
              <a:rect l="l" t="t" r="r" b="b"/>
              <a:pathLst>
                <a:path w="1045490" h="170746">
                  <a:moveTo>
                    <a:pt x="0" y="0"/>
                  </a:moveTo>
                  <a:lnTo>
                    <a:pt x="1045490" y="0"/>
                  </a:lnTo>
                  <a:lnTo>
                    <a:pt x="1045490" y="170746"/>
                  </a:lnTo>
                  <a:lnTo>
                    <a:pt x="0" y="170746"/>
                  </a:lnTo>
                  <a:close/>
                </a:path>
              </a:pathLst>
            </a:custGeom>
            <a:solidFill>
              <a:srgbClr val="AAD7D4"/>
            </a:solidFill>
            <a:ln w="28575" cap="sq">
              <a:solidFill>
                <a:srgbClr val="1C2120"/>
              </a:solidFill>
              <a:prstDash val="solid"/>
              <a:miter/>
            </a:ln>
          </p:spPr>
        </p:sp>
        <p:sp>
          <p:nvSpPr>
            <p:cNvPr id="8" name="TextBox 8"/>
            <p:cNvSpPr txBox="1"/>
            <p:nvPr/>
          </p:nvSpPr>
          <p:spPr>
            <a:xfrm>
              <a:off x="0" y="-47625"/>
              <a:ext cx="1045490" cy="218371"/>
            </a:xfrm>
            <a:prstGeom prst="rect">
              <a:avLst/>
            </a:prstGeom>
          </p:spPr>
          <p:txBody>
            <a:bodyPr lIns="50800" tIns="50800" rIns="50800" bIns="50800" rtlCol="0" anchor="ctr"/>
            <a:lstStyle/>
            <a:p>
              <a:pPr algn="ctr">
                <a:lnSpc>
                  <a:spcPts val="3499"/>
                </a:lnSpc>
              </a:pPr>
              <a:r>
                <a:rPr lang="en-US" sz="2499">
                  <a:solidFill>
                    <a:srgbClr val="000000"/>
                  </a:solidFill>
                  <a:latin typeface="Open Sans Light"/>
                  <a:ea typeface="Open Sans Light"/>
                  <a:cs typeface="Open Sans Light"/>
                  <a:sym typeface="Open Sans Light"/>
                </a:rPr>
                <a:t>REVIEW - 2</a:t>
              </a:r>
            </a:p>
          </p:txBody>
        </p:sp>
      </p:grpSp>
      <p:sp>
        <p:nvSpPr>
          <p:cNvPr id="9" name="TextBox 9"/>
          <p:cNvSpPr txBox="1"/>
          <p:nvPr/>
        </p:nvSpPr>
        <p:spPr>
          <a:xfrm>
            <a:off x="2769897" y="3270366"/>
            <a:ext cx="13066873" cy="1651545"/>
          </a:xfrm>
          <a:prstGeom prst="rect">
            <a:avLst/>
          </a:prstGeom>
        </p:spPr>
        <p:txBody>
          <a:bodyPr lIns="0" tIns="0" rIns="0" bIns="0" rtlCol="0" anchor="t">
            <a:spAutoFit/>
          </a:bodyPr>
          <a:lstStyle/>
          <a:p>
            <a:pPr algn="ctr">
              <a:lnSpc>
                <a:spcPts val="10918"/>
              </a:lnSpc>
            </a:pPr>
            <a:r>
              <a:rPr lang="en-US" sz="12998" b="1" spc="-701">
                <a:solidFill>
                  <a:srgbClr val="1C2120"/>
                </a:solidFill>
                <a:latin typeface="Poppins Semi-Bold"/>
                <a:ea typeface="Poppins Semi-Bold"/>
                <a:cs typeface="Poppins Semi-Bold"/>
                <a:sym typeface="Poppins Semi-Bold"/>
              </a:rPr>
              <a:t>TEAM - 25</a:t>
            </a:r>
          </a:p>
        </p:txBody>
      </p:sp>
      <p:sp>
        <p:nvSpPr>
          <p:cNvPr id="10" name="TextBox 10"/>
          <p:cNvSpPr txBox="1"/>
          <p:nvPr/>
        </p:nvSpPr>
        <p:spPr>
          <a:xfrm>
            <a:off x="2092214" y="942975"/>
            <a:ext cx="14422239" cy="1887855"/>
          </a:xfrm>
          <a:prstGeom prst="rect">
            <a:avLst/>
          </a:prstGeom>
        </p:spPr>
        <p:txBody>
          <a:bodyPr lIns="0" tIns="0" rIns="0" bIns="0" rtlCol="0" anchor="t">
            <a:spAutoFit/>
          </a:bodyPr>
          <a:lstStyle/>
          <a:p>
            <a:pPr algn="ctr">
              <a:lnSpc>
                <a:spcPts val="5739"/>
              </a:lnSpc>
            </a:pPr>
            <a:r>
              <a:rPr lang="en-US" sz="4099" spc="-336">
                <a:solidFill>
                  <a:srgbClr val="1C2120"/>
                </a:solidFill>
                <a:latin typeface="Public Sans"/>
                <a:ea typeface="Public Sans"/>
                <a:cs typeface="Public Sans"/>
                <a:sym typeface="Public Sans"/>
              </a:rPr>
              <a:t>Mobility and Deadline-Aware Task Scheduling Mechanism for Vehicular </a:t>
            </a:r>
          </a:p>
          <a:p>
            <a:pPr algn="ctr">
              <a:lnSpc>
                <a:spcPts val="5739"/>
              </a:lnSpc>
            </a:pPr>
            <a:r>
              <a:rPr lang="en-US" sz="4099" spc="-336">
                <a:solidFill>
                  <a:srgbClr val="1C2120"/>
                </a:solidFill>
                <a:latin typeface="Public Sans"/>
                <a:ea typeface="Public Sans"/>
                <a:cs typeface="Public Sans"/>
                <a:sym typeface="Public Sans"/>
              </a:rPr>
              <a:t>Edge Computing </a:t>
            </a:r>
          </a:p>
          <a:p>
            <a:pPr algn="ctr">
              <a:lnSpc>
                <a:spcPts val="3500"/>
              </a:lnSpc>
              <a:spcBef>
                <a:spcPct val="0"/>
              </a:spcBef>
            </a:pPr>
            <a:endParaRPr lang="en-US" sz="4099" spc="-336">
              <a:solidFill>
                <a:srgbClr val="1C2120"/>
              </a:solidFill>
              <a:latin typeface="Public Sans"/>
              <a:ea typeface="Public Sans"/>
              <a:cs typeface="Public Sans"/>
              <a:sym typeface="Public Sans"/>
            </a:endParaRPr>
          </a:p>
        </p:txBody>
      </p:sp>
      <p:sp>
        <p:nvSpPr>
          <p:cNvPr id="11" name="TextBox 11"/>
          <p:cNvSpPr txBox="1"/>
          <p:nvPr/>
        </p:nvSpPr>
        <p:spPr>
          <a:xfrm>
            <a:off x="13120004" y="7064375"/>
            <a:ext cx="5396595" cy="2193925"/>
          </a:xfrm>
          <a:prstGeom prst="rect">
            <a:avLst/>
          </a:prstGeom>
        </p:spPr>
        <p:txBody>
          <a:bodyPr wrap="square" lIns="0" tIns="0" rIns="0" bIns="0" rtlCol="0" anchor="t">
            <a:spAutoFit/>
          </a:bodyPr>
          <a:lstStyle/>
          <a:p>
            <a:pPr>
              <a:lnSpc>
                <a:spcPts val="3500"/>
              </a:lnSpc>
            </a:pPr>
            <a:r>
              <a:rPr lang="en-US" sz="2500" spc="-205" dirty="0">
                <a:solidFill>
                  <a:srgbClr val="1C2120"/>
                </a:solidFill>
                <a:latin typeface="Public Sans"/>
                <a:ea typeface="Public Sans"/>
                <a:cs typeface="Public Sans"/>
                <a:sym typeface="Public Sans"/>
              </a:rPr>
              <a:t>Edge Team Members</a:t>
            </a:r>
          </a:p>
          <a:p>
            <a:pPr>
              <a:lnSpc>
                <a:spcPts val="3500"/>
              </a:lnSpc>
            </a:pPr>
            <a:r>
              <a:rPr lang="en-US" sz="2500" spc="-205" dirty="0">
                <a:solidFill>
                  <a:srgbClr val="1C2120"/>
                </a:solidFill>
                <a:latin typeface="Public Sans"/>
                <a:ea typeface="Public Sans"/>
                <a:cs typeface="Public Sans"/>
                <a:sym typeface="Public Sans"/>
              </a:rPr>
              <a:t>Harish Veylan P  CB.SC.U4CSE23722</a:t>
            </a:r>
          </a:p>
          <a:p>
            <a:pPr>
              <a:lnSpc>
                <a:spcPts val="3500"/>
              </a:lnSpc>
            </a:pPr>
            <a:r>
              <a:rPr lang="en-US" sz="2500" spc="-205" dirty="0">
                <a:solidFill>
                  <a:srgbClr val="1C2120"/>
                </a:solidFill>
                <a:latin typeface="Public Sans"/>
                <a:ea typeface="Public Sans"/>
                <a:cs typeface="Public Sans"/>
                <a:sym typeface="Public Sans"/>
              </a:rPr>
              <a:t>Nehan GRM CB.SC.U4CSE23660</a:t>
            </a:r>
          </a:p>
          <a:p>
            <a:pPr>
              <a:lnSpc>
                <a:spcPts val="3500"/>
              </a:lnSpc>
            </a:pPr>
            <a:r>
              <a:rPr lang="en-US" sz="2500" spc="-205" dirty="0">
                <a:solidFill>
                  <a:srgbClr val="1C2120"/>
                </a:solidFill>
                <a:latin typeface="Public Sans"/>
                <a:ea typeface="Public Sans"/>
                <a:cs typeface="Public Sans"/>
                <a:sym typeface="Public Sans"/>
              </a:rPr>
              <a:t>Karthik P  CB.SC.U4CSE23522</a:t>
            </a:r>
          </a:p>
          <a:p>
            <a:pPr>
              <a:lnSpc>
                <a:spcPts val="3500"/>
              </a:lnSpc>
              <a:spcBef>
                <a:spcPct val="0"/>
              </a:spcBef>
            </a:pPr>
            <a:r>
              <a:rPr lang="en-US" sz="2500" spc="-205" dirty="0">
                <a:solidFill>
                  <a:srgbClr val="1C2120"/>
                </a:solidFill>
                <a:latin typeface="Public Sans"/>
                <a:ea typeface="Public Sans"/>
                <a:cs typeface="Public Sans"/>
                <a:sym typeface="Public Sans"/>
              </a:rPr>
              <a:t>Kanish Khan J  CB.SC.U4CSE23626</a:t>
            </a:r>
          </a:p>
        </p:txBody>
      </p:sp>
      <p:sp>
        <p:nvSpPr>
          <p:cNvPr id="12" name="TextBox 12"/>
          <p:cNvSpPr txBox="1"/>
          <p:nvPr/>
        </p:nvSpPr>
        <p:spPr>
          <a:xfrm>
            <a:off x="-98599" y="7502525"/>
            <a:ext cx="6870305" cy="1317625"/>
          </a:xfrm>
          <a:prstGeom prst="rect">
            <a:avLst/>
          </a:prstGeom>
        </p:spPr>
        <p:txBody>
          <a:bodyPr lIns="0" tIns="0" rIns="0" bIns="0" rtlCol="0" anchor="t">
            <a:spAutoFit/>
          </a:bodyPr>
          <a:lstStyle/>
          <a:p>
            <a:pPr algn="ctr">
              <a:lnSpc>
                <a:spcPts val="3500"/>
              </a:lnSpc>
            </a:pPr>
            <a:r>
              <a:rPr lang="en-US" sz="2500" spc="-205" dirty="0">
                <a:solidFill>
                  <a:srgbClr val="1C2120"/>
                </a:solidFill>
                <a:latin typeface="Public Sans"/>
                <a:ea typeface="Public Sans"/>
                <a:cs typeface="Public Sans"/>
                <a:sym typeface="Public Sans"/>
              </a:rPr>
              <a:t>CI Team Members</a:t>
            </a:r>
          </a:p>
          <a:p>
            <a:pPr algn="l">
              <a:lnSpc>
                <a:spcPts val="3500"/>
              </a:lnSpc>
            </a:pPr>
            <a:r>
              <a:rPr lang="en-US" sz="2500" spc="-205" dirty="0">
                <a:solidFill>
                  <a:srgbClr val="1C2120"/>
                </a:solidFill>
                <a:latin typeface="Public Sans"/>
                <a:ea typeface="Public Sans"/>
                <a:cs typeface="Public Sans"/>
                <a:sym typeface="Public Sans"/>
              </a:rPr>
              <a:t>                               ARJUN R  CB.SC.U4CSE23004</a:t>
            </a:r>
          </a:p>
          <a:p>
            <a:pPr algn="l">
              <a:lnSpc>
                <a:spcPts val="3500"/>
              </a:lnSpc>
              <a:spcBef>
                <a:spcPct val="0"/>
              </a:spcBef>
            </a:pPr>
            <a:r>
              <a:rPr lang="en-US" sz="2500" spc="-205" dirty="0">
                <a:solidFill>
                  <a:srgbClr val="1C2120"/>
                </a:solidFill>
                <a:latin typeface="Public Sans"/>
                <a:ea typeface="Public Sans"/>
                <a:cs typeface="Public Sans"/>
                <a:sym typeface="Public Sans"/>
              </a:rPr>
              <a:t>                               SAKTHI KARTHIK BC CB.SC.U4CSE23010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42201" y="1196239"/>
            <a:ext cx="7194456" cy="974095"/>
            <a:chOff x="0" y="0"/>
            <a:chExt cx="1894836" cy="256552"/>
          </a:xfrm>
        </p:grpSpPr>
        <p:sp>
          <p:nvSpPr>
            <p:cNvPr id="3" name="Freeform 3"/>
            <p:cNvSpPr/>
            <p:nvPr/>
          </p:nvSpPr>
          <p:spPr>
            <a:xfrm>
              <a:off x="0" y="0"/>
              <a:ext cx="1894836" cy="256552"/>
            </a:xfrm>
            <a:custGeom>
              <a:avLst/>
              <a:gdLst/>
              <a:ahLst/>
              <a:cxnLst/>
              <a:rect l="l" t="t" r="r" b="b"/>
              <a:pathLst>
                <a:path w="1894836" h="256552">
                  <a:moveTo>
                    <a:pt x="54881" y="0"/>
                  </a:moveTo>
                  <a:lnTo>
                    <a:pt x="1839955" y="0"/>
                  </a:lnTo>
                  <a:cubicBezTo>
                    <a:pt x="1854510" y="0"/>
                    <a:pt x="1868470" y="5782"/>
                    <a:pt x="1878762" y="16074"/>
                  </a:cubicBezTo>
                  <a:cubicBezTo>
                    <a:pt x="1889054" y="26366"/>
                    <a:pt x="1894836" y="40326"/>
                    <a:pt x="1894836" y="54881"/>
                  </a:cubicBezTo>
                  <a:lnTo>
                    <a:pt x="1894836" y="201671"/>
                  </a:lnTo>
                  <a:cubicBezTo>
                    <a:pt x="1894836" y="216226"/>
                    <a:pt x="1889054" y="230185"/>
                    <a:pt x="1878762" y="240477"/>
                  </a:cubicBezTo>
                  <a:cubicBezTo>
                    <a:pt x="1868470" y="250770"/>
                    <a:pt x="1854510" y="256552"/>
                    <a:pt x="1839955" y="256552"/>
                  </a:cubicBezTo>
                  <a:lnTo>
                    <a:pt x="54881" y="256552"/>
                  </a:lnTo>
                  <a:cubicBezTo>
                    <a:pt x="40326" y="256552"/>
                    <a:pt x="26366" y="250770"/>
                    <a:pt x="16074" y="240477"/>
                  </a:cubicBezTo>
                  <a:cubicBezTo>
                    <a:pt x="5782" y="230185"/>
                    <a:pt x="0" y="216226"/>
                    <a:pt x="0" y="201671"/>
                  </a:cubicBezTo>
                  <a:lnTo>
                    <a:pt x="0" y="54881"/>
                  </a:lnTo>
                  <a:cubicBezTo>
                    <a:pt x="0" y="40326"/>
                    <a:pt x="5782" y="26366"/>
                    <a:pt x="16074" y="16074"/>
                  </a:cubicBezTo>
                  <a:cubicBezTo>
                    <a:pt x="26366" y="5782"/>
                    <a:pt x="40326" y="0"/>
                    <a:pt x="54881" y="0"/>
                  </a:cubicBezTo>
                  <a:close/>
                </a:path>
              </a:pathLst>
            </a:custGeom>
            <a:solidFill>
              <a:srgbClr val="AAD7D4"/>
            </a:solidFill>
          </p:spPr>
        </p:sp>
        <p:sp>
          <p:nvSpPr>
            <p:cNvPr id="4" name="TextBox 4"/>
            <p:cNvSpPr txBox="1"/>
            <p:nvPr/>
          </p:nvSpPr>
          <p:spPr>
            <a:xfrm>
              <a:off x="0" y="-57150"/>
              <a:ext cx="1894836" cy="313702"/>
            </a:xfrm>
            <a:prstGeom prst="rect">
              <a:avLst/>
            </a:prstGeom>
          </p:spPr>
          <p:txBody>
            <a:bodyPr lIns="50800" tIns="50800" rIns="50800" bIns="50800" rtlCol="0" anchor="ctr"/>
            <a:lstStyle/>
            <a:p>
              <a:pPr algn="ctr">
                <a:lnSpc>
                  <a:spcPts val="3919"/>
                </a:lnSpc>
              </a:pPr>
              <a:r>
                <a:rPr lang="en-US" sz="2799">
                  <a:solidFill>
                    <a:srgbClr val="000000"/>
                  </a:solidFill>
                  <a:latin typeface="Open Sans"/>
                  <a:ea typeface="Open Sans"/>
                  <a:cs typeface="Open Sans"/>
                  <a:sym typeface="Open Sans"/>
                </a:rPr>
                <a:t>Problem Statement</a:t>
              </a:r>
            </a:p>
          </p:txBody>
        </p:sp>
      </p:grpSp>
      <p:sp>
        <p:nvSpPr>
          <p:cNvPr id="5" name="TextBox 5"/>
          <p:cNvSpPr txBox="1"/>
          <p:nvPr/>
        </p:nvSpPr>
        <p:spPr>
          <a:xfrm>
            <a:off x="1815937" y="2712241"/>
            <a:ext cx="13041440" cy="2025626"/>
          </a:xfrm>
          <a:prstGeom prst="rect">
            <a:avLst/>
          </a:prstGeom>
        </p:spPr>
        <p:txBody>
          <a:bodyPr lIns="0" tIns="0" rIns="0" bIns="0" rtlCol="0" anchor="t">
            <a:spAutoFit/>
          </a:bodyPr>
          <a:lstStyle/>
          <a:p>
            <a:pPr algn="l">
              <a:lnSpc>
                <a:spcPts val="3399"/>
              </a:lnSpc>
            </a:pPr>
            <a:endParaRPr/>
          </a:p>
          <a:p>
            <a:pPr marL="0" lvl="0" indent="0" algn="l">
              <a:lnSpc>
                <a:spcPts val="3399"/>
              </a:lnSpc>
              <a:spcBef>
                <a:spcPct val="0"/>
              </a:spcBef>
            </a:pPr>
            <a:r>
              <a:rPr lang="en-US" sz="2517" spc="151">
                <a:solidFill>
                  <a:srgbClr val="000000"/>
                </a:solidFill>
                <a:latin typeface="Public Sans"/>
                <a:ea typeface="Public Sans"/>
                <a:cs typeface="Public Sans"/>
                <a:sym typeface="Public Sans"/>
              </a:rPr>
              <a:t>Vehicular Edge Computing (VEC) systems must handle low-latency, mobility-sensitive task scheduling across dynamically available Vehicular Cloud (VC) resources. However, efficiently deciding where and when to execute tasks</a:t>
            </a:r>
          </a:p>
          <a:p>
            <a:pPr marL="0" lvl="0" indent="0" algn="l">
              <a:lnSpc>
                <a:spcPts val="2454"/>
              </a:lnSpc>
              <a:spcBef>
                <a:spcPct val="0"/>
              </a:spcBef>
            </a:pPr>
            <a:endParaRPr lang="en-US" sz="2517" spc="151">
              <a:solidFill>
                <a:srgbClr val="000000"/>
              </a:solidFill>
              <a:latin typeface="Public Sans"/>
              <a:ea typeface="Public Sans"/>
              <a:cs typeface="Public Sans"/>
              <a:sym typeface="Public Sans"/>
            </a:endParaRPr>
          </a:p>
        </p:txBody>
      </p:sp>
      <p:sp>
        <p:nvSpPr>
          <p:cNvPr id="6" name="TextBox 6"/>
          <p:cNvSpPr txBox="1"/>
          <p:nvPr/>
        </p:nvSpPr>
        <p:spPr>
          <a:xfrm>
            <a:off x="4264492" y="5153025"/>
            <a:ext cx="4507548" cy="1695433"/>
          </a:xfrm>
          <a:prstGeom prst="rect">
            <a:avLst/>
          </a:prstGeom>
        </p:spPr>
        <p:txBody>
          <a:bodyPr lIns="0" tIns="0" rIns="0" bIns="0" rtlCol="0" anchor="t">
            <a:spAutoFit/>
          </a:bodyPr>
          <a:lstStyle/>
          <a:p>
            <a:pPr algn="ctr">
              <a:lnSpc>
                <a:spcPts val="2698"/>
              </a:lnSpc>
            </a:pPr>
            <a:r>
              <a:rPr lang="en-US" sz="2498">
                <a:solidFill>
                  <a:srgbClr val="1C2120"/>
                </a:solidFill>
                <a:latin typeface="Poppins"/>
                <a:ea typeface="Poppins"/>
                <a:cs typeface="Poppins"/>
                <a:sym typeface="Poppins"/>
              </a:rPr>
              <a:t>Considering ,                        </a:t>
            </a:r>
          </a:p>
          <a:p>
            <a:pPr algn="ctr">
              <a:lnSpc>
                <a:spcPts val="2698"/>
              </a:lnSpc>
            </a:pPr>
            <a:r>
              <a:rPr lang="en-US" sz="2498">
                <a:solidFill>
                  <a:srgbClr val="1C2120"/>
                </a:solidFill>
                <a:latin typeface="Poppins"/>
                <a:ea typeface="Poppins"/>
                <a:cs typeface="Poppins"/>
                <a:sym typeface="Poppins"/>
              </a:rPr>
              <a:t> task deadlines</a:t>
            </a:r>
          </a:p>
          <a:p>
            <a:pPr algn="ctr">
              <a:lnSpc>
                <a:spcPts val="2698"/>
              </a:lnSpc>
            </a:pPr>
            <a:r>
              <a:rPr lang="en-US" sz="2498">
                <a:solidFill>
                  <a:srgbClr val="1C2120"/>
                </a:solidFill>
                <a:latin typeface="Poppins"/>
                <a:ea typeface="Poppins"/>
                <a:cs typeface="Poppins"/>
                <a:sym typeface="Poppins"/>
              </a:rPr>
              <a:t>node mobility</a:t>
            </a:r>
          </a:p>
          <a:p>
            <a:pPr algn="ctr">
              <a:lnSpc>
                <a:spcPts val="2698"/>
              </a:lnSpc>
            </a:pPr>
            <a:r>
              <a:rPr lang="en-US" sz="2498">
                <a:solidFill>
                  <a:srgbClr val="1C2120"/>
                </a:solidFill>
                <a:latin typeface="Poppins"/>
                <a:ea typeface="Poppins"/>
                <a:cs typeface="Poppins"/>
                <a:sym typeface="Poppins"/>
              </a:rPr>
              <a:t>            resource availability</a:t>
            </a:r>
          </a:p>
          <a:p>
            <a:pPr algn="ctr">
              <a:lnSpc>
                <a:spcPts val="2698"/>
              </a:lnSpc>
            </a:pPr>
            <a:endParaRPr lang="en-US" sz="2498">
              <a:solidFill>
                <a:srgbClr val="1C212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65828" y="1593954"/>
            <a:ext cx="14174255" cy="8236391"/>
          </a:xfrm>
          <a:custGeom>
            <a:avLst/>
            <a:gdLst/>
            <a:ahLst/>
            <a:cxnLst/>
            <a:rect l="l" t="t" r="r" b="b"/>
            <a:pathLst>
              <a:path w="14174255" h="8236391">
                <a:moveTo>
                  <a:pt x="0" y="0"/>
                </a:moveTo>
                <a:lnTo>
                  <a:pt x="14174255" y="0"/>
                </a:lnTo>
                <a:lnTo>
                  <a:pt x="14174255" y="8236392"/>
                </a:lnTo>
                <a:lnTo>
                  <a:pt x="0" y="8236392"/>
                </a:lnTo>
                <a:lnTo>
                  <a:pt x="0" y="0"/>
                </a:lnTo>
                <a:close/>
              </a:path>
            </a:pathLst>
          </a:custGeom>
          <a:blipFill>
            <a:blip r:embed="rId2"/>
            <a:stretch>
              <a:fillRect/>
            </a:stretch>
          </a:blipFill>
        </p:spPr>
      </p:sp>
      <p:sp>
        <p:nvSpPr>
          <p:cNvPr id="3" name="TextBox 3"/>
          <p:cNvSpPr txBox="1"/>
          <p:nvPr/>
        </p:nvSpPr>
        <p:spPr>
          <a:xfrm>
            <a:off x="0" y="-180975"/>
            <a:ext cx="10763491" cy="1502525"/>
          </a:xfrm>
          <a:prstGeom prst="rect">
            <a:avLst/>
          </a:prstGeom>
        </p:spPr>
        <p:txBody>
          <a:bodyPr lIns="0" tIns="0" rIns="0" bIns="0" rtlCol="0" anchor="t">
            <a:spAutoFit/>
          </a:bodyPr>
          <a:lstStyle/>
          <a:p>
            <a:pPr algn="ctr">
              <a:lnSpc>
                <a:spcPts val="12208"/>
              </a:lnSpc>
              <a:spcBef>
                <a:spcPct val="0"/>
              </a:spcBef>
            </a:pPr>
            <a:r>
              <a:rPr lang="en-US" sz="8720" spc="-715">
                <a:solidFill>
                  <a:srgbClr val="000000"/>
                </a:solidFill>
                <a:latin typeface="Public Sans"/>
                <a:ea typeface="Public Sans"/>
                <a:cs typeface="Public Sans"/>
                <a:sym typeface="Public Sans"/>
              </a:rPr>
              <a:t>Architecture Diagram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83134" y="1456573"/>
            <a:ext cx="6830714" cy="2128485"/>
            <a:chOff x="0" y="0"/>
            <a:chExt cx="2286638" cy="712528"/>
          </a:xfrm>
        </p:grpSpPr>
        <p:sp>
          <p:nvSpPr>
            <p:cNvPr id="3" name="Freeform 3"/>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4" name="TextBox 4"/>
            <p:cNvSpPr txBox="1"/>
            <p:nvPr/>
          </p:nvSpPr>
          <p:spPr>
            <a:xfrm>
              <a:off x="0" y="85725"/>
              <a:ext cx="2286638" cy="626803"/>
            </a:xfrm>
            <a:prstGeom prst="rect">
              <a:avLst/>
            </a:prstGeom>
          </p:spPr>
          <p:txBody>
            <a:bodyPr lIns="50800" tIns="50800" rIns="50800" bIns="50800" rtlCol="0" anchor="ctr"/>
            <a:lstStyle/>
            <a:p>
              <a:pPr algn="ctr">
                <a:lnSpc>
                  <a:spcPts val="1925"/>
                </a:lnSpc>
              </a:pPr>
              <a:r>
                <a:rPr lang="en-US" sz="2500" spc="-205">
                  <a:solidFill>
                    <a:srgbClr val="000000"/>
                  </a:solidFill>
                  <a:latin typeface="Public Sans"/>
                  <a:ea typeface="Public Sans"/>
                  <a:cs typeface="Public Sans"/>
                  <a:sym typeface="Public Sans"/>
                </a:rPr>
                <a:t>How vehicle can be an edge considering its low</a:t>
              </a:r>
            </a:p>
            <a:p>
              <a:pPr algn="ctr">
                <a:lnSpc>
                  <a:spcPts val="1925"/>
                </a:lnSpc>
              </a:pPr>
              <a:endParaRPr lang="en-US" sz="2500" spc="-205">
                <a:solidFill>
                  <a:srgbClr val="000000"/>
                </a:solidFill>
                <a:latin typeface="Public Sans"/>
                <a:ea typeface="Public Sans"/>
                <a:cs typeface="Public Sans"/>
                <a:sym typeface="Public Sans"/>
              </a:endParaRPr>
            </a:p>
            <a:p>
              <a:pPr algn="ctr">
                <a:lnSpc>
                  <a:spcPts val="1925"/>
                </a:lnSpc>
              </a:pPr>
              <a:r>
                <a:rPr lang="en-US" sz="2500" spc="-205">
                  <a:solidFill>
                    <a:srgbClr val="000000"/>
                  </a:solidFill>
                  <a:latin typeface="Public Sans"/>
                  <a:ea typeface="Public Sans"/>
                  <a:cs typeface="Public Sans"/>
                  <a:sym typeface="Public Sans"/>
                </a:rPr>
                <a:t> computation power ?</a:t>
              </a:r>
            </a:p>
          </p:txBody>
        </p:sp>
      </p:grpSp>
      <p:grpSp>
        <p:nvGrpSpPr>
          <p:cNvPr id="5" name="Group 5"/>
          <p:cNvGrpSpPr/>
          <p:nvPr/>
        </p:nvGrpSpPr>
        <p:grpSpPr>
          <a:xfrm>
            <a:off x="10083134" y="4079914"/>
            <a:ext cx="6830714" cy="2128485"/>
            <a:chOff x="0" y="0"/>
            <a:chExt cx="2286638" cy="712528"/>
          </a:xfrm>
        </p:grpSpPr>
        <p:sp>
          <p:nvSpPr>
            <p:cNvPr id="6" name="Freeform 6"/>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7" name="TextBox 7"/>
            <p:cNvSpPr txBox="1"/>
            <p:nvPr/>
          </p:nvSpPr>
          <p:spPr>
            <a:xfrm>
              <a:off x="0" y="85725"/>
              <a:ext cx="2286638" cy="626803"/>
            </a:xfrm>
            <a:prstGeom prst="rect">
              <a:avLst/>
            </a:prstGeom>
          </p:spPr>
          <p:txBody>
            <a:bodyPr lIns="50800" tIns="50800" rIns="50800" bIns="50800" rtlCol="0" anchor="ctr"/>
            <a:lstStyle/>
            <a:p>
              <a:pPr algn="ctr">
                <a:lnSpc>
                  <a:spcPts val="1925"/>
                </a:lnSpc>
              </a:pPr>
              <a:r>
                <a:rPr lang="en-US" sz="2500" spc="-205">
                  <a:solidFill>
                    <a:srgbClr val="000000"/>
                  </a:solidFill>
                  <a:latin typeface="Public Sans"/>
                  <a:ea typeface="Public Sans"/>
                  <a:cs typeface="Public Sans"/>
                  <a:sym typeface="Public Sans"/>
                </a:rPr>
                <a:t>How will we handle interoperability across various</a:t>
              </a:r>
            </a:p>
            <a:p>
              <a:pPr algn="ctr">
                <a:lnSpc>
                  <a:spcPts val="1925"/>
                </a:lnSpc>
              </a:pPr>
              <a:endParaRPr lang="en-US" sz="2500" spc="-205">
                <a:solidFill>
                  <a:srgbClr val="000000"/>
                </a:solidFill>
                <a:latin typeface="Public Sans"/>
                <a:ea typeface="Public Sans"/>
                <a:cs typeface="Public Sans"/>
                <a:sym typeface="Public Sans"/>
              </a:endParaRPr>
            </a:p>
            <a:p>
              <a:pPr algn="ctr">
                <a:lnSpc>
                  <a:spcPts val="1925"/>
                </a:lnSpc>
              </a:pPr>
              <a:r>
                <a:rPr lang="en-US" sz="2500" spc="-205">
                  <a:solidFill>
                    <a:srgbClr val="000000"/>
                  </a:solidFill>
                  <a:latin typeface="Public Sans"/>
                  <a:ea typeface="Public Sans"/>
                  <a:cs typeface="Public Sans"/>
                  <a:sym typeface="Public Sans"/>
                </a:rPr>
                <a:t> regions(remote regions) ?</a:t>
              </a:r>
            </a:p>
          </p:txBody>
        </p:sp>
      </p:grpSp>
      <p:grpSp>
        <p:nvGrpSpPr>
          <p:cNvPr id="8" name="Group 8"/>
          <p:cNvGrpSpPr/>
          <p:nvPr/>
        </p:nvGrpSpPr>
        <p:grpSpPr>
          <a:xfrm>
            <a:off x="10083134" y="6541774"/>
            <a:ext cx="6830714" cy="2128485"/>
            <a:chOff x="0" y="0"/>
            <a:chExt cx="2286638" cy="712528"/>
          </a:xfrm>
        </p:grpSpPr>
        <p:sp>
          <p:nvSpPr>
            <p:cNvPr id="9" name="Freeform 9"/>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0" name="TextBox 10"/>
            <p:cNvSpPr txBox="1"/>
            <p:nvPr/>
          </p:nvSpPr>
          <p:spPr>
            <a:xfrm>
              <a:off x="0" y="85725"/>
              <a:ext cx="2286638" cy="626803"/>
            </a:xfrm>
            <a:prstGeom prst="rect">
              <a:avLst/>
            </a:prstGeom>
          </p:spPr>
          <p:txBody>
            <a:bodyPr lIns="50800" tIns="50800" rIns="50800" bIns="50800" rtlCol="0" anchor="ctr"/>
            <a:lstStyle/>
            <a:p>
              <a:pPr algn="ctr">
                <a:lnSpc>
                  <a:spcPts val="1925"/>
                </a:lnSpc>
              </a:pPr>
              <a:endParaRPr/>
            </a:p>
          </p:txBody>
        </p:sp>
      </p:grpSp>
      <p:sp>
        <p:nvSpPr>
          <p:cNvPr id="11" name="TextBox 11"/>
          <p:cNvSpPr txBox="1"/>
          <p:nvPr/>
        </p:nvSpPr>
        <p:spPr>
          <a:xfrm>
            <a:off x="542675" y="936615"/>
            <a:ext cx="7925063" cy="132215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ISSUES RAISED</a:t>
            </a:r>
          </a:p>
        </p:txBody>
      </p:sp>
      <p:sp>
        <p:nvSpPr>
          <p:cNvPr id="12" name="TextBox 12"/>
          <p:cNvSpPr txBox="1"/>
          <p:nvPr/>
        </p:nvSpPr>
        <p:spPr>
          <a:xfrm>
            <a:off x="10433171" y="6969429"/>
            <a:ext cx="6130641" cy="1235075"/>
          </a:xfrm>
          <a:prstGeom prst="rect">
            <a:avLst/>
          </a:prstGeom>
        </p:spPr>
        <p:txBody>
          <a:bodyPr lIns="0" tIns="0" rIns="0" bIns="0" rtlCol="0" anchor="t">
            <a:spAutoFit/>
          </a:bodyPr>
          <a:lstStyle/>
          <a:p>
            <a:pPr algn="ctr">
              <a:lnSpc>
                <a:spcPts val="3249"/>
              </a:lnSpc>
            </a:pPr>
            <a:r>
              <a:rPr lang="en-US" sz="2499" spc="-59">
                <a:solidFill>
                  <a:srgbClr val="1C2120"/>
                </a:solidFill>
                <a:latin typeface="Public Sans"/>
                <a:ea typeface="Public Sans"/>
                <a:cs typeface="Public Sans"/>
                <a:sym typeface="Public Sans"/>
              </a:rPr>
              <a:t>If Vehicles are highly mobile and</a:t>
            </a:r>
          </a:p>
          <a:p>
            <a:pPr algn="ctr">
              <a:lnSpc>
                <a:spcPts val="3249"/>
              </a:lnSpc>
            </a:pPr>
            <a:r>
              <a:rPr lang="en-US" sz="2499" spc="-59">
                <a:solidFill>
                  <a:srgbClr val="1C2120"/>
                </a:solidFill>
                <a:latin typeface="Public Sans"/>
                <a:ea typeface="Public Sans"/>
                <a:cs typeface="Public Sans"/>
                <a:sym typeface="Public Sans"/>
              </a:rPr>
              <a:t>unpredictable, how will we </a:t>
            </a:r>
          </a:p>
          <a:p>
            <a:pPr marL="0" lvl="0" indent="0" algn="ctr">
              <a:lnSpc>
                <a:spcPts val="3249"/>
              </a:lnSpc>
            </a:pPr>
            <a:r>
              <a:rPr lang="en-US" sz="2499" spc="-59">
                <a:solidFill>
                  <a:srgbClr val="1C2120"/>
                </a:solidFill>
                <a:latin typeface="Public Sans"/>
                <a:ea typeface="Public Sans"/>
                <a:cs typeface="Public Sans"/>
                <a:sym typeface="Public Sans"/>
              </a:rPr>
              <a:t>schedule tasks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90600"/>
            <a:ext cx="8537476" cy="1321861"/>
          </a:xfrm>
          <a:prstGeom prst="rect">
            <a:avLst/>
          </a:prstGeom>
        </p:spPr>
        <p:txBody>
          <a:bodyPr lIns="0" tIns="0" rIns="0" bIns="0" rtlCol="0" anchor="t">
            <a:spAutoFit/>
          </a:bodyPr>
          <a:lstStyle/>
          <a:p>
            <a:pPr algn="l">
              <a:lnSpc>
                <a:spcPts val="9658"/>
              </a:lnSpc>
            </a:pPr>
            <a:r>
              <a:rPr lang="en-US" sz="8472">
                <a:solidFill>
                  <a:srgbClr val="1C2120"/>
                </a:solidFill>
                <a:latin typeface="Poppins"/>
                <a:ea typeface="Poppins"/>
                <a:cs typeface="Poppins"/>
                <a:sym typeface="Poppins"/>
              </a:rPr>
              <a:t>Resolutions</a:t>
            </a:r>
          </a:p>
        </p:txBody>
      </p:sp>
      <p:sp>
        <p:nvSpPr>
          <p:cNvPr id="3" name="TextBox 3"/>
          <p:cNvSpPr txBox="1"/>
          <p:nvPr/>
        </p:nvSpPr>
        <p:spPr>
          <a:xfrm>
            <a:off x="2004993" y="2449300"/>
            <a:ext cx="13351098" cy="10003989"/>
          </a:xfrm>
          <a:prstGeom prst="rect">
            <a:avLst/>
          </a:prstGeom>
        </p:spPr>
        <p:txBody>
          <a:bodyPr lIns="0" tIns="0" rIns="0" bIns="0" rtlCol="0" anchor="t">
            <a:spAutoFit/>
          </a:bodyPr>
          <a:lstStyle/>
          <a:p>
            <a:pPr marL="530298" lvl="1" indent="-265149" algn="l">
              <a:lnSpc>
                <a:spcPts val="3315"/>
              </a:lnSpc>
              <a:buFont typeface="Arial"/>
              <a:buChar char="•"/>
            </a:pPr>
            <a:r>
              <a:rPr lang="en-US" sz="2456" spc="147">
                <a:solidFill>
                  <a:srgbClr val="000000"/>
                </a:solidFill>
                <a:latin typeface="DM Sans"/>
                <a:ea typeface="DM Sans"/>
                <a:cs typeface="DM Sans"/>
                <a:sym typeface="DM Sans"/>
              </a:rPr>
              <a:t>Modern vehicles already host powerful onboard units (e.g., NVIDIA Jetson, Qualcomm Snapdragon Ride, Tesla FSD chips) capable of tens to hundreds of TOPS for ADAS and AI tasks. These resources can be partially shared for VEC, letting vehicles run lightweight tasks, preprocess sensor data, or cache content. In MARINA, such vehicles act as edge nodes, and when pooled into a vehicular cloud, they provide meaningful compute power.</a:t>
            </a:r>
          </a:p>
          <a:p>
            <a:pPr algn="l">
              <a:lnSpc>
                <a:spcPts val="3315"/>
              </a:lnSpc>
            </a:pPr>
            <a:endParaRPr lang="en-US" sz="2456" spc="147">
              <a:solidFill>
                <a:srgbClr val="000000"/>
              </a:solidFill>
              <a:latin typeface="DM Sans"/>
              <a:ea typeface="DM Sans"/>
              <a:cs typeface="DM Sans"/>
              <a:sym typeface="DM Sans"/>
            </a:endParaRPr>
          </a:p>
          <a:p>
            <a:pPr marL="530298" lvl="1" indent="-265149" algn="l">
              <a:lnSpc>
                <a:spcPts val="3315"/>
              </a:lnSpc>
              <a:buFont typeface="Arial"/>
              <a:buChar char="•"/>
            </a:pPr>
            <a:r>
              <a:rPr lang="en-US" sz="2456" spc="147">
                <a:solidFill>
                  <a:srgbClr val="000000"/>
                </a:solidFill>
                <a:latin typeface="DM Sans"/>
                <a:ea typeface="DM Sans"/>
                <a:cs typeface="DM Sans"/>
                <a:sym typeface="DM Sans"/>
              </a:rPr>
              <a:t> Use standardized APIs/middleware (ETSI MEC, MQTT, DDS) so regional VEC controllers can coordinate. In remote/low-connectivity areas, rely on local processing, store-and-forward, and V2V relaying until reconnection is possible.</a:t>
            </a:r>
          </a:p>
          <a:p>
            <a:pPr algn="l">
              <a:lnSpc>
                <a:spcPts val="3315"/>
              </a:lnSpc>
            </a:pPr>
            <a:endParaRPr lang="en-US" sz="2456" spc="147">
              <a:solidFill>
                <a:srgbClr val="000000"/>
              </a:solidFill>
              <a:latin typeface="DM Sans"/>
              <a:ea typeface="DM Sans"/>
              <a:cs typeface="DM Sans"/>
              <a:sym typeface="DM Sans"/>
            </a:endParaRPr>
          </a:p>
          <a:p>
            <a:pPr marL="530298" lvl="1" indent="-265149" algn="l">
              <a:lnSpc>
                <a:spcPts val="3315"/>
              </a:lnSpc>
              <a:buFont typeface="Arial"/>
              <a:buChar char="•"/>
            </a:pPr>
            <a:r>
              <a:rPr lang="en-US" sz="2456" spc="147">
                <a:solidFill>
                  <a:srgbClr val="000000"/>
                </a:solidFill>
                <a:latin typeface="DM Sans"/>
                <a:ea typeface="DM Sans"/>
                <a:cs typeface="DM Sans"/>
                <a:sym typeface="DM Sans"/>
              </a:rPr>
              <a:t>MARINA tackles this by using an LSTM-based mobility prediction model to forecast whether a vehicle or RSU will remain available during task execution. This prediction feeds into the scheduler, helping it avoid assigning tasks to nodes that may soon disconnect, ensuring more reliable execution.</a:t>
            </a: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marL="0" lvl="0" indent="0" algn="l">
              <a:lnSpc>
                <a:spcPts val="4395"/>
              </a:lnSpc>
              <a:spcBef>
                <a:spcPct val="0"/>
              </a:spcBef>
            </a:pPr>
            <a:endParaRPr lang="en-US" sz="2456" spc="147">
              <a:solidFill>
                <a:srgbClr val="000000"/>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2435" y="-198121"/>
            <a:ext cx="11213990" cy="1226821"/>
          </a:xfrm>
          <a:prstGeom prst="rect">
            <a:avLst/>
          </a:prstGeom>
        </p:spPr>
        <p:txBody>
          <a:bodyPr lIns="0" tIns="0" rIns="0" bIns="0" rtlCol="0" anchor="t">
            <a:spAutoFit/>
          </a:bodyPr>
          <a:lstStyle/>
          <a:p>
            <a:pPr algn="ctr">
              <a:lnSpc>
                <a:spcPts val="10079"/>
              </a:lnSpc>
              <a:spcBef>
                <a:spcPct val="0"/>
              </a:spcBef>
            </a:pPr>
            <a:r>
              <a:rPr lang="en-US" sz="7199" b="1">
                <a:solidFill>
                  <a:srgbClr val="000000"/>
                </a:solidFill>
                <a:latin typeface="Atkinson Hyperlegible Bold"/>
                <a:ea typeface="Atkinson Hyperlegible Bold"/>
                <a:cs typeface="Atkinson Hyperlegible Bold"/>
                <a:sym typeface="Atkinson Hyperlegible Bold"/>
              </a:rPr>
              <a:t>Problem Formulation:</a:t>
            </a:r>
          </a:p>
        </p:txBody>
      </p:sp>
      <p:sp>
        <p:nvSpPr>
          <p:cNvPr id="3" name="TextBox 3"/>
          <p:cNvSpPr txBox="1"/>
          <p:nvPr/>
        </p:nvSpPr>
        <p:spPr>
          <a:xfrm>
            <a:off x="231091" y="1175814"/>
            <a:ext cx="17736890" cy="9849390"/>
          </a:xfrm>
          <a:prstGeom prst="rect">
            <a:avLst/>
          </a:prstGeom>
        </p:spPr>
        <p:txBody>
          <a:bodyPr lIns="0" tIns="0" rIns="0" bIns="0" rtlCol="0" anchor="t">
            <a:spAutoFit/>
          </a:bodyPr>
          <a:lstStyle/>
          <a:p>
            <a:pPr algn="l">
              <a:lnSpc>
                <a:spcPts val="5220"/>
              </a:lnSpc>
            </a:pPr>
            <a:r>
              <a:rPr lang="en-US" sz="3728" i="1">
                <a:solidFill>
                  <a:srgbClr val="000000"/>
                </a:solidFill>
                <a:latin typeface="Public Sans Italics"/>
                <a:ea typeface="Public Sans Italics"/>
                <a:cs typeface="Public Sans Italics"/>
                <a:sym typeface="Public Sans Italics"/>
              </a:rPr>
              <a:t>Task Representation:</a:t>
            </a:r>
          </a:p>
          <a:p>
            <a:pPr marL="805033" lvl="1" indent="-402516" algn="l">
              <a:lnSpc>
                <a:spcPts val="5220"/>
              </a:lnSpc>
              <a:buFont typeface="Arial"/>
              <a:buChar char="•"/>
            </a:pPr>
            <a:r>
              <a:rPr lang="en-US" sz="3728">
                <a:solidFill>
                  <a:srgbClr val="000000"/>
                </a:solidFill>
                <a:latin typeface="Public Sans"/>
                <a:ea typeface="Public Sans"/>
                <a:cs typeface="Public Sans"/>
                <a:sym typeface="Public Sans"/>
              </a:rPr>
              <a:t> Each task t1∈T is defined as a tuple:</a:t>
            </a:r>
          </a:p>
          <a:p>
            <a:pPr algn="l">
              <a:lnSpc>
                <a:spcPts val="5220"/>
              </a:lnSpc>
            </a:pPr>
            <a:r>
              <a:rPr lang="en-US" sz="3728">
                <a:solidFill>
                  <a:srgbClr val="000000"/>
                </a:solidFill>
                <a:latin typeface="Public Sans"/>
                <a:ea typeface="Public Sans"/>
                <a:cs typeface="Public Sans"/>
                <a:sym typeface="Public Sans"/>
              </a:rPr>
              <a:t>                                                     tl={idl,sl,wl,Dl}</a:t>
            </a:r>
          </a:p>
          <a:p>
            <a:pPr marL="1610066" lvl="2" indent="-536689" algn="l">
              <a:lnSpc>
                <a:spcPts val="5220"/>
              </a:lnSpc>
              <a:buFont typeface="Arial"/>
              <a:buChar char="⚬"/>
            </a:pPr>
            <a:r>
              <a:rPr lang="en-US" sz="3728">
                <a:solidFill>
                  <a:srgbClr val="000000"/>
                </a:solidFill>
                <a:latin typeface="Public Sans"/>
                <a:ea typeface="Public Sans"/>
                <a:cs typeface="Public Sans"/>
                <a:sym typeface="Public Sans"/>
              </a:rPr>
              <a:t>idl: Unique task ID</a:t>
            </a:r>
          </a:p>
          <a:p>
            <a:pPr marL="1610066" lvl="2" indent="-536689" algn="l">
              <a:lnSpc>
                <a:spcPts val="5220"/>
              </a:lnSpc>
              <a:buFont typeface="Arial"/>
              <a:buChar char="⚬"/>
            </a:pPr>
            <a:r>
              <a:rPr lang="en-US" sz="3728">
                <a:solidFill>
                  <a:srgbClr val="000000"/>
                </a:solidFill>
                <a:latin typeface="Public Sans"/>
                <a:ea typeface="Public Sans"/>
                <a:cs typeface="Public Sans"/>
                <a:sym typeface="Public Sans"/>
              </a:rPr>
              <a:t>sl: Size of input data</a:t>
            </a:r>
          </a:p>
          <a:p>
            <a:pPr marL="1610066" lvl="2" indent="-536689" algn="l">
              <a:lnSpc>
                <a:spcPts val="5220"/>
              </a:lnSpc>
              <a:buFont typeface="Arial"/>
              <a:buChar char="⚬"/>
            </a:pPr>
            <a:r>
              <a:rPr lang="en-US" sz="3728">
                <a:solidFill>
                  <a:srgbClr val="000000"/>
                </a:solidFill>
                <a:latin typeface="Public Sans"/>
                <a:ea typeface="Public Sans"/>
                <a:cs typeface="Public Sans"/>
                <a:sym typeface="Public Sans"/>
              </a:rPr>
              <a:t>wl​: CPU cycles required</a:t>
            </a:r>
          </a:p>
          <a:p>
            <a:pPr marL="1610066" lvl="2" indent="-536689" algn="l">
              <a:lnSpc>
                <a:spcPts val="5220"/>
              </a:lnSpc>
              <a:buFont typeface="Arial"/>
              <a:buChar char="⚬"/>
            </a:pPr>
            <a:r>
              <a:rPr lang="en-US" sz="3728">
                <a:solidFill>
                  <a:srgbClr val="000000"/>
                </a:solidFill>
                <a:latin typeface="Public Sans"/>
                <a:ea typeface="Public Sans"/>
                <a:cs typeface="Public Sans"/>
                <a:sym typeface="Public Sans"/>
              </a:rPr>
              <a:t>Dl​: Deadline constraint</a:t>
            </a:r>
          </a:p>
          <a:p>
            <a:pPr algn="l">
              <a:lnSpc>
                <a:spcPts val="5220"/>
              </a:lnSpc>
            </a:pPr>
            <a:endParaRPr lang="en-US" sz="3728">
              <a:solidFill>
                <a:srgbClr val="000000"/>
              </a:solidFill>
              <a:latin typeface="Public Sans"/>
              <a:ea typeface="Public Sans"/>
              <a:cs typeface="Public Sans"/>
              <a:sym typeface="Public Sans"/>
            </a:endParaRPr>
          </a:p>
          <a:p>
            <a:pPr algn="l">
              <a:lnSpc>
                <a:spcPts val="5220"/>
              </a:lnSpc>
            </a:pPr>
            <a:r>
              <a:rPr lang="en-US" sz="3728" i="1">
                <a:solidFill>
                  <a:srgbClr val="000000"/>
                </a:solidFill>
                <a:latin typeface="Public Sans Italics"/>
                <a:ea typeface="Public Sans Italics"/>
                <a:cs typeface="Public Sans Italics"/>
                <a:sym typeface="Public Sans Italics"/>
              </a:rPr>
              <a:t>Computation Delay:</a:t>
            </a:r>
          </a:p>
          <a:p>
            <a:pPr marL="805033" lvl="1" indent="-402516" algn="l">
              <a:lnSpc>
                <a:spcPts val="5220"/>
              </a:lnSpc>
              <a:buFont typeface="Arial"/>
              <a:buChar char="•"/>
            </a:pPr>
            <a:r>
              <a:rPr lang="en-US" sz="3728">
                <a:solidFill>
                  <a:srgbClr val="000000"/>
                </a:solidFill>
                <a:latin typeface="Public Sans"/>
                <a:ea typeface="Public Sans"/>
                <a:cs typeface="Public Sans"/>
                <a:sym typeface="Public Sans"/>
              </a:rPr>
              <a:t> The task computation delay in VC vj is:</a:t>
            </a:r>
          </a:p>
          <a:p>
            <a:pPr algn="l">
              <a:lnSpc>
                <a:spcPts val="5220"/>
              </a:lnSpc>
            </a:pPr>
            <a:r>
              <a:rPr lang="en-US" sz="3728">
                <a:solidFill>
                  <a:srgbClr val="000000"/>
                </a:solidFill>
                <a:latin typeface="Public Sans"/>
                <a:ea typeface="Public Sans"/>
                <a:cs typeface="Public Sans"/>
                <a:sym typeface="Public Sans"/>
              </a:rPr>
              <a:t>                                                      dlj=wl/j</a:t>
            </a:r>
          </a:p>
          <a:p>
            <a:pPr algn="l">
              <a:lnSpc>
                <a:spcPts val="5220"/>
              </a:lnSpc>
            </a:pPr>
            <a:r>
              <a:rPr lang="en-US" sz="3728">
                <a:solidFill>
                  <a:srgbClr val="000000"/>
                </a:solidFill>
                <a:latin typeface="Public Sans"/>
                <a:ea typeface="Public Sans"/>
                <a:cs typeface="Public Sans"/>
                <a:sym typeface="Public Sans"/>
              </a:rPr>
              <a:t>where j is the processing capacity adjusted for the number of tasks sharing the VC.</a:t>
            </a:r>
          </a:p>
          <a:p>
            <a:pPr algn="l">
              <a:lnSpc>
                <a:spcPts val="5220"/>
              </a:lnSpc>
            </a:pPr>
            <a:endParaRPr lang="en-US" sz="3728">
              <a:solidFill>
                <a:srgbClr val="000000"/>
              </a:solidFill>
              <a:latin typeface="Public Sans"/>
              <a:ea typeface="Public Sans"/>
              <a:cs typeface="Public Sans"/>
              <a:sym typeface="Public Sans"/>
            </a:endParaRPr>
          </a:p>
          <a:p>
            <a:pPr algn="l">
              <a:lnSpc>
                <a:spcPts val="5220"/>
              </a:lnSpc>
            </a:pPr>
            <a:endParaRPr lang="en-US" sz="3728">
              <a:solidFill>
                <a:srgbClr val="000000"/>
              </a:solidFill>
              <a:latin typeface="Public Sans"/>
              <a:ea typeface="Public Sans"/>
              <a:cs typeface="Public Sans"/>
              <a:sym typeface="Public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497817"/>
            <a:ext cx="15086766" cy="5897245"/>
          </a:xfrm>
          <a:prstGeom prst="rect">
            <a:avLst/>
          </a:prstGeom>
        </p:spPr>
        <p:txBody>
          <a:bodyPr lIns="0" tIns="0" rIns="0" bIns="0" rtlCol="0" anchor="t">
            <a:spAutoFit/>
          </a:bodyPr>
          <a:lstStyle/>
          <a:p>
            <a:pPr algn="l">
              <a:lnSpc>
                <a:spcPts val="5179"/>
              </a:lnSpc>
            </a:pPr>
            <a:r>
              <a:rPr lang="en-US" sz="3699" b="1" i="1">
                <a:solidFill>
                  <a:srgbClr val="000000"/>
                </a:solidFill>
                <a:latin typeface="Public Sans Bold Italics"/>
                <a:ea typeface="Public Sans Bold Italics"/>
                <a:cs typeface="Public Sans Bold Italics"/>
                <a:sym typeface="Public Sans Bold Italics"/>
              </a:rPr>
              <a:t>Cost Function:</a:t>
            </a:r>
          </a:p>
          <a:p>
            <a:pPr marL="798828" lvl="1" indent="-399414" algn="l">
              <a:lnSpc>
                <a:spcPts val="5179"/>
              </a:lnSpc>
              <a:buFont typeface="Arial"/>
              <a:buChar char="•"/>
            </a:pPr>
            <a:r>
              <a:rPr lang="en-US" sz="3699">
                <a:solidFill>
                  <a:srgbClr val="000000"/>
                </a:solidFill>
                <a:latin typeface="Public Sans"/>
                <a:ea typeface="Public Sans"/>
                <a:cs typeface="Public Sans"/>
                <a:sym typeface="Public Sans"/>
              </a:rPr>
              <a:t> The monetary cost for executing task tl is:</a:t>
            </a:r>
          </a:p>
          <a:p>
            <a:pPr algn="l">
              <a:lnSpc>
                <a:spcPts val="5179"/>
              </a:lnSpc>
            </a:pPr>
            <a:r>
              <a:rPr lang="en-US" sz="3699">
                <a:solidFill>
                  <a:srgbClr val="000000"/>
                </a:solidFill>
                <a:latin typeface="Public Sans"/>
                <a:ea typeface="Public Sans"/>
                <a:cs typeface="Public Sans"/>
                <a:sym typeface="Public Sans"/>
              </a:rPr>
              <a:t> Cl=dlj×wl×Price(tl) </a:t>
            </a:r>
          </a:p>
          <a:p>
            <a:pPr algn="l">
              <a:lnSpc>
                <a:spcPts val="5179"/>
              </a:lnSpc>
            </a:pPr>
            <a:r>
              <a:rPr lang="en-US" sz="3699">
                <a:solidFill>
                  <a:srgbClr val="000000"/>
                </a:solidFill>
                <a:latin typeface="Public Sans"/>
                <a:ea typeface="Public Sans"/>
                <a:cs typeface="Public Sans"/>
                <a:sym typeface="Public Sans"/>
              </a:rPr>
              <a:t>where Price(tl)depends on the resource provider.</a:t>
            </a:r>
          </a:p>
          <a:p>
            <a:pPr algn="l">
              <a:lnSpc>
                <a:spcPts val="5179"/>
              </a:lnSpc>
            </a:pPr>
            <a:endParaRPr lang="en-US" sz="3699">
              <a:solidFill>
                <a:srgbClr val="000000"/>
              </a:solidFill>
              <a:latin typeface="Public Sans"/>
              <a:ea typeface="Public Sans"/>
              <a:cs typeface="Public Sans"/>
              <a:sym typeface="Public Sans"/>
            </a:endParaRPr>
          </a:p>
          <a:p>
            <a:pPr algn="l">
              <a:lnSpc>
                <a:spcPts val="5179"/>
              </a:lnSpc>
            </a:pPr>
            <a:r>
              <a:rPr lang="en-US" sz="3699" b="1" i="1">
                <a:solidFill>
                  <a:srgbClr val="000000"/>
                </a:solidFill>
                <a:latin typeface="Public Sans Bold Italics"/>
                <a:ea typeface="Public Sans Bold Italics"/>
                <a:cs typeface="Public Sans Bold Italics"/>
                <a:sym typeface="Public Sans Bold Italics"/>
              </a:rPr>
              <a:t>Constraints:</a:t>
            </a:r>
          </a:p>
          <a:p>
            <a:pPr marL="1597656" lvl="2" indent="-532552" algn="l">
              <a:lnSpc>
                <a:spcPts val="5179"/>
              </a:lnSpc>
              <a:buFont typeface="Arial"/>
              <a:buChar char="⚬"/>
            </a:pPr>
            <a:r>
              <a:rPr lang="en-US" sz="3699">
                <a:solidFill>
                  <a:srgbClr val="000000"/>
                </a:solidFill>
                <a:latin typeface="Public Sans"/>
                <a:ea typeface="Public Sans"/>
                <a:cs typeface="Public Sans"/>
                <a:sym typeface="Public Sans"/>
              </a:rPr>
              <a:t>Task deadlines must be satisfied: dlj ≤ Dl</a:t>
            </a:r>
          </a:p>
          <a:p>
            <a:pPr marL="1597656" lvl="2" indent="-532552" algn="l">
              <a:lnSpc>
                <a:spcPts val="5179"/>
              </a:lnSpc>
              <a:buFont typeface="Arial"/>
              <a:buChar char="⚬"/>
            </a:pPr>
            <a:r>
              <a:rPr lang="en-US" sz="3699">
                <a:solidFill>
                  <a:srgbClr val="000000"/>
                </a:solidFill>
                <a:latin typeface="Public Sans"/>
                <a:ea typeface="Public Sans"/>
                <a:cs typeface="Public Sans"/>
                <a:sym typeface="Public Sans"/>
              </a:rPr>
              <a:t>Storage and CPU capacity limits in VCs must not be exceeded.</a:t>
            </a:r>
          </a:p>
          <a:p>
            <a:pPr algn="l">
              <a:lnSpc>
                <a:spcPts val="5179"/>
              </a:lnSpc>
            </a:pPr>
            <a:endParaRPr lang="en-US" sz="3699">
              <a:solidFill>
                <a:srgbClr val="000000"/>
              </a:solidFill>
              <a:latin typeface="Public Sans"/>
              <a:ea typeface="Public Sans"/>
              <a:cs typeface="Public Sans"/>
              <a:sym typeface="Public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07309" y="1818640"/>
            <a:ext cx="17594424" cy="6656705"/>
          </a:xfrm>
          <a:prstGeom prst="rect">
            <a:avLst/>
          </a:prstGeom>
        </p:spPr>
        <p:txBody>
          <a:bodyPr lIns="0" tIns="0" rIns="0" bIns="0" rtlCol="0" anchor="t">
            <a:spAutoFit/>
          </a:bodyPr>
          <a:lstStyle/>
          <a:p>
            <a:pPr algn="l">
              <a:lnSpc>
                <a:spcPts val="5319"/>
              </a:lnSpc>
            </a:pPr>
            <a:r>
              <a:rPr lang="en-US" sz="3799">
                <a:solidFill>
                  <a:srgbClr val="000000"/>
                </a:solidFill>
                <a:latin typeface="Public Sans"/>
                <a:ea typeface="Public Sans"/>
                <a:cs typeface="Public Sans"/>
                <a:sym typeface="Public Sans"/>
              </a:rPr>
              <a:t>Pareto Optimization:</a:t>
            </a:r>
          </a:p>
          <a:p>
            <a:pPr marL="820417" lvl="1" indent="-410209" algn="l">
              <a:lnSpc>
                <a:spcPts val="5319"/>
              </a:lnSpc>
              <a:buFont typeface="Arial"/>
              <a:buChar char="•"/>
            </a:pPr>
            <a:r>
              <a:rPr lang="en-US" sz="3799">
                <a:solidFill>
                  <a:srgbClr val="000000"/>
                </a:solidFill>
                <a:latin typeface="Public Sans"/>
                <a:ea typeface="Public Sans"/>
                <a:cs typeface="Public Sans"/>
                <a:sym typeface="Public Sans"/>
              </a:rPr>
              <a:t> Identify tasks that jointly minimize computation time and respect deadlines to reduce cost.</a:t>
            </a:r>
          </a:p>
          <a:p>
            <a:pPr algn="l">
              <a:lnSpc>
                <a:spcPts val="5319"/>
              </a:lnSpc>
            </a:pPr>
            <a:r>
              <a:rPr lang="en-US" sz="3799">
                <a:solidFill>
                  <a:srgbClr val="000000"/>
                </a:solidFill>
                <a:latin typeface="Public Sans"/>
                <a:ea typeface="Public Sans"/>
                <a:cs typeface="Public Sans"/>
                <a:sym typeface="Public Sans"/>
              </a:rPr>
              <a:t>Bin Covering Problem (BCP):</a:t>
            </a:r>
          </a:p>
          <a:p>
            <a:pPr marL="820417" lvl="1" indent="-410209" algn="l">
              <a:lnSpc>
                <a:spcPts val="5319"/>
              </a:lnSpc>
              <a:buFont typeface="Arial"/>
              <a:buChar char="•"/>
            </a:pPr>
            <a:r>
              <a:rPr lang="en-US" sz="3799">
                <a:solidFill>
                  <a:srgbClr val="000000"/>
                </a:solidFill>
                <a:latin typeface="Public Sans"/>
                <a:ea typeface="Public Sans"/>
                <a:cs typeface="Public Sans"/>
                <a:sym typeface="Public Sans"/>
              </a:rPr>
              <a:t> Model the scheduling as a packaging problem where tasks are packed into bins (VCs), aiming to maximize the number of tasks.</a:t>
            </a:r>
          </a:p>
          <a:p>
            <a:pPr algn="l">
              <a:lnSpc>
                <a:spcPts val="5319"/>
              </a:lnSpc>
            </a:pPr>
            <a:r>
              <a:rPr lang="en-US" sz="3799">
                <a:solidFill>
                  <a:srgbClr val="000000"/>
                </a:solidFill>
                <a:latin typeface="Public Sans"/>
                <a:ea typeface="Public Sans"/>
                <a:cs typeface="Public Sans"/>
                <a:sym typeface="Public Sans"/>
              </a:rPr>
              <a:t>Heuristic Algorithm:</a:t>
            </a:r>
          </a:p>
          <a:p>
            <a:pPr marL="820417" lvl="1" indent="-410209" algn="l">
              <a:lnSpc>
                <a:spcPts val="5319"/>
              </a:lnSpc>
              <a:buFont typeface="Arial"/>
              <a:buChar char="•"/>
            </a:pPr>
            <a:r>
              <a:rPr lang="en-US" sz="3799">
                <a:solidFill>
                  <a:srgbClr val="000000"/>
                </a:solidFill>
                <a:latin typeface="Public Sans"/>
                <a:ea typeface="Public Sans"/>
                <a:cs typeface="Public Sans"/>
                <a:sym typeface="Public Sans"/>
              </a:rPr>
              <a:t> Use the First-Fit Decreasing (FFD) heuristic to efficiently assign tasks based on size and capacity constraints.</a:t>
            </a:r>
          </a:p>
          <a:p>
            <a:pPr algn="l">
              <a:lnSpc>
                <a:spcPts val="5319"/>
              </a:lnSpc>
            </a:pPr>
            <a:endParaRPr lang="en-US" sz="3799">
              <a:solidFill>
                <a:srgbClr val="000000"/>
              </a:solidFill>
              <a:latin typeface="Public Sans"/>
              <a:ea typeface="Public Sans"/>
              <a:cs typeface="Public Sans"/>
              <a:sym typeface="Public Sans"/>
            </a:endParaRPr>
          </a:p>
        </p:txBody>
      </p:sp>
      <p:sp>
        <p:nvSpPr>
          <p:cNvPr id="3" name="TextBox 3"/>
          <p:cNvSpPr txBox="1"/>
          <p:nvPr/>
        </p:nvSpPr>
        <p:spPr>
          <a:xfrm>
            <a:off x="357316" y="190479"/>
            <a:ext cx="8024684" cy="1183594"/>
          </a:xfrm>
          <a:prstGeom prst="rect">
            <a:avLst/>
          </a:prstGeom>
        </p:spPr>
        <p:txBody>
          <a:bodyPr wrap="square" lIns="0" tIns="0" rIns="0" bIns="0" rtlCol="0" anchor="t">
            <a:spAutoFit/>
          </a:bodyPr>
          <a:lstStyle/>
          <a:p>
            <a:pPr algn="ctr">
              <a:lnSpc>
                <a:spcPts val="10080"/>
              </a:lnSpc>
            </a:pPr>
            <a:r>
              <a:rPr lang="en-US" sz="7200" b="1" dirty="0">
                <a:solidFill>
                  <a:srgbClr val="000000"/>
                </a:solidFill>
                <a:latin typeface="Public Sans Bold"/>
                <a:ea typeface="Public Sans Bold"/>
                <a:cs typeface="Public Sans Bold"/>
                <a:sym typeface="Public Sans Bold"/>
              </a:rPr>
              <a:t>Algorithms Used: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32544" y="3120862"/>
            <a:ext cx="13659834" cy="5623084"/>
          </a:xfrm>
          <a:prstGeom prst="rect">
            <a:avLst/>
          </a:prstGeom>
        </p:spPr>
        <p:txBody>
          <a:bodyPr lIns="0" tIns="0" rIns="0" bIns="0" rtlCol="0" anchor="t">
            <a:spAutoFit/>
          </a:bodyPr>
          <a:lstStyle/>
          <a:p>
            <a:pPr algn="l">
              <a:lnSpc>
                <a:spcPts val="5591"/>
              </a:lnSpc>
            </a:pPr>
            <a:r>
              <a:rPr lang="en-US" sz="3993" spc="-327">
                <a:solidFill>
                  <a:srgbClr val="000000"/>
                </a:solidFill>
                <a:latin typeface="Public Sans"/>
                <a:ea typeface="Public Sans"/>
                <a:cs typeface="Public Sans"/>
                <a:sym typeface="Public Sans"/>
              </a:rPr>
              <a:t>Purpose: Efficient task scheduling in vehicular cloud environments.</a:t>
            </a:r>
          </a:p>
          <a:p>
            <a:pPr algn="l">
              <a:lnSpc>
                <a:spcPts val="5591"/>
              </a:lnSpc>
            </a:pPr>
            <a:r>
              <a:rPr lang="en-US" sz="3993" spc="-327">
                <a:solidFill>
                  <a:srgbClr val="000000"/>
                </a:solidFill>
                <a:latin typeface="Public Sans"/>
                <a:ea typeface="Public Sans"/>
                <a:cs typeface="Public Sans"/>
                <a:sym typeface="Public Sans"/>
              </a:rPr>
              <a:t>Key components:</a:t>
            </a:r>
          </a:p>
          <a:p>
            <a:pPr marL="862246" lvl="1" indent="-431123" algn="l">
              <a:lnSpc>
                <a:spcPts val="5591"/>
              </a:lnSpc>
              <a:buFont typeface="Arial"/>
              <a:buChar char="•"/>
            </a:pPr>
            <a:r>
              <a:rPr lang="en-US" sz="3993" spc="-327">
                <a:solidFill>
                  <a:srgbClr val="000000"/>
                </a:solidFill>
                <a:latin typeface="Public Sans"/>
                <a:ea typeface="Public Sans"/>
                <a:cs typeface="Public Sans"/>
                <a:sym typeface="Public Sans"/>
              </a:rPr>
              <a:t>Base Station: Communication hub.</a:t>
            </a:r>
          </a:p>
          <a:p>
            <a:pPr marL="862246" lvl="1" indent="-431123" algn="l">
              <a:lnSpc>
                <a:spcPts val="5591"/>
              </a:lnSpc>
              <a:buFont typeface="Arial"/>
              <a:buChar char="•"/>
            </a:pPr>
            <a:r>
              <a:rPr lang="en-US" sz="3993" spc="-327">
                <a:solidFill>
                  <a:srgbClr val="000000"/>
                </a:solidFill>
                <a:latin typeface="Public Sans"/>
                <a:ea typeface="Public Sans"/>
                <a:cs typeface="Public Sans"/>
                <a:sym typeface="Public Sans"/>
              </a:rPr>
              <a:t>Scheduler (MARINA): Allocates tasks based on vehicle state.</a:t>
            </a:r>
          </a:p>
          <a:p>
            <a:pPr marL="862246" lvl="1" indent="-431123" algn="l">
              <a:lnSpc>
                <a:spcPts val="5591"/>
              </a:lnSpc>
              <a:buFont typeface="Arial"/>
              <a:buChar char="•"/>
            </a:pPr>
            <a:r>
              <a:rPr lang="en-US" sz="3993" spc="-327">
                <a:solidFill>
                  <a:srgbClr val="000000"/>
                </a:solidFill>
                <a:latin typeface="Public Sans"/>
                <a:ea typeface="Public Sans"/>
                <a:cs typeface="Public Sans"/>
                <a:sym typeface="Public Sans"/>
              </a:rPr>
              <a:t>Resource Prediction: Estimates Position, speed, etc.Inputs: Vehicle trace data (sample_vehicle_trace.csv).Outputs: Task execution logs and performance metrics.</a:t>
            </a:r>
          </a:p>
          <a:p>
            <a:pPr algn="ctr">
              <a:lnSpc>
                <a:spcPts val="5591"/>
              </a:lnSpc>
              <a:spcBef>
                <a:spcPct val="0"/>
              </a:spcBef>
            </a:pPr>
            <a:endParaRPr lang="en-US" sz="3993" spc="-327">
              <a:solidFill>
                <a:srgbClr val="000000"/>
              </a:solidFill>
              <a:latin typeface="Public Sans"/>
              <a:ea typeface="Public Sans"/>
              <a:cs typeface="Public Sans"/>
              <a:sym typeface="Public Sans"/>
            </a:endParaRPr>
          </a:p>
        </p:txBody>
      </p:sp>
      <p:sp>
        <p:nvSpPr>
          <p:cNvPr id="3" name="Freeform 3"/>
          <p:cNvSpPr/>
          <p:nvPr/>
        </p:nvSpPr>
        <p:spPr>
          <a:xfrm>
            <a:off x="14457747" y="3687800"/>
            <a:ext cx="3286145" cy="3322389"/>
          </a:xfrm>
          <a:custGeom>
            <a:avLst/>
            <a:gdLst/>
            <a:ahLst/>
            <a:cxnLst/>
            <a:rect l="l" t="t" r="r" b="b"/>
            <a:pathLst>
              <a:path w="3286145" h="3322389">
                <a:moveTo>
                  <a:pt x="0" y="0"/>
                </a:moveTo>
                <a:lnTo>
                  <a:pt x="3286145" y="0"/>
                </a:lnTo>
                <a:lnTo>
                  <a:pt x="3286145" y="3322389"/>
                </a:lnTo>
                <a:lnTo>
                  <a:pt x="0" y="33223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257768" y="473669"/>
            <a:ext cx="15363433" cy="1694815"/>
          </a:xfrm>
          <a:prstGeom prst="rect">
            <a:avLst/>
          </a:prstGeom>
        </p:spPr>
        <p:txBody>
          <a:bodyPr lIns="0" tIns="0" rIns="0" bIns="0" rtlCol="0" anchor="t">
            <a:spAutoFit/>
          </a:bodyPr>
          <a:lstStyle/>
          <a:p>
            <a:pPr algn="ctr">
              <a:lnSpc>
                <a:spcPts val="6860"/>
              </a:lnSpc>
            </a:pPr>
            <a:r>
              <a:rPr lang="en-US" sz="4900" b="1">
                <a:solidFill>
                  <a:srgbClr val="000000"/>
                </a:solidFill>
                <a:latin typeface="Atkinson Hyperlegible Bold"/>
                <a:ea typeface="Atkinson Hyperlegible Bold"/>
                <a:cs typeface="Atkinson Hyperlegible Bold"/>
                <a:sym typeface="Atkinson Hyperlegible Bold"/>
              </a:rPr>
              <a:t>Code Walkthrough – Vehicular Edge Computing with MARINA Scheduler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6323" y="2244804"/>
            <a:ext cx="13293683" cy="5721192"/>
          </a:xfrm>
          <a:prstGeom prst="rect">
            <a:avLst/>
          </a:prstGeom>
        </p:spPr>
        <p:txBody>
          <a:bodyPr lIns="0" tIns="0" rIns="0" bIns="0" rtlCol="0" anchor="t">
            <a:spAutoFit/>
          </a:bodyPr>
          <a:lstStyle/>
          <a:p>
            <a:pPr marL="876860" lvl="1" indent="-438430" algn="l">
              <a:lnSpc>
                <a:spcPts val="5685"/>
              </a:lnSpc>
              <a:buFont typeface="Arial"/>
              <a:buChar char="•"/>
            </a:pPr>
            <a:r>
              <a:rPr lang="en-US" sz="4061" spc="-333">
                <a:solidFill>
                  <a:srgbClr val="000000"/>
                </a:solidFill>
                <a:latin typeface="Public Sans"/>
                <a:ea typeface="Public Sans"/>
                <a:cs typeface="Public Sans"/>
                <a:sym typeface="Public Sans"/>
              </a:rPr>
              <a:t>Task.java:</a:t>
            </a:r>
          </a:p>
          <a:p>
            <a:pPr marL="1753721" lvl="2" indent="-584574" algn="l">
              <a:lnSpc>
                <a:spcPts val="5685"/>
              </a:lnSpc>
              <a:buFont typeface="Arial"/>
              <a:buChar char="⚬"/>
            </a:pPr>
            <a:r>
              <a:rPr lang="en-US" sz="4061" spc="-333">
                <a:solidFill>
                  <a:srgbClr val="000000"/>
                </a:solidFill>
                <a:latin typeface="Public Sans"/>
                <a:ea typeface="Public Sans"/>
                <a:cs typeface="Public Sans"/>
                <a:sym typeface="Public Sans"/>
              </a:rPr>
              <a:t>Encapsulates task parameters such as load, deadlines.</a:t>
            </a:r>
          </a:p>
          <a:p>
            <a:pPr marL="1753721" lvl="2" indent="-584574" algn="l">
              <a:lnSpc>
                <a:spcPts val="5685"/>
              </a:lnSpc>
              <a:buFont typeface="Arial"/>
              <a:buChar char="⚬"/>
            </a:pPr>
            <a:r>
              <a:rPr lang="en-US" sz="4061" spc="-333">
                <a:solidFill>
                  <a:srgbClr val="000000"/>
                </a:solidFill>
                <a:latin typeface="Public Sans"/>
                <a:ea typeface="Public Sans"/>
                <a:cs typeface="Public Sans"/>
                <a:sym typeface="Public Sans"/>
              </a:rPr>
              <a:t>Provides methods for updating task status.</a:t>
            </a:r>
          </a:p>
          <a:p>
            <a:pPr marL="876860" lvl="1" indent="-438430" algn="l">
              <a:lnSpc>
                <a:spcPts val="5685"/>
              </a:lnSpc>
              <a:buFont typeface="Arial"/>
              <a:buChar char="•"/>
            </a:pPr>
            <a:r>
              <a:rPr lang="en-US" sz="4061" spc="-333">
                <a:solidFill>
                  <a:srgbClr val="000000"/>
                </a:solidFill>
                <a:latin typeface="Public Sans"/>
                <a:ea typeface="Public Sans"/>
                <a:cs typeface="Public Sans"/>
                <a:sym typeface="Public Sans"/>
              </a:rPr>
              <a:t>MARINAScheduler.java:</a:t>
            </a:r>
          </a:p>
          <a:p>
            <a:pPr marL="1753721" lvl="2" indent="-584574" algn="l">
              <a:lnSpc>
                <a:spcPts val="5685"/>
              </a:lnSpc>
              <a:spcBef>
                <a:spcPct val="0"/>
              </a:spcBef>
              <a:buFont typeface="Arial"/>
              <a:buChar char="⚬"/>
            </a:pPr>
            <a:r>
              <a:rPr lang="en-US" sz="4061" spc="-333">
                <a:solidFill>
                  <a:srgbClr val="000000"/>
                </a:solidFill>
                <a:latin typeface="Public Sans"/>
                <a:ea typeface="Public Sans"/>
                <a:cs typeface="Public Sans"/>
                <a:sym typeface="Public Sans"/>
              </a:rPr>
              <a:t>Prioritizes tasks based on predicted data.</a:t>
            </a:r>
          </a:p>
          <a:p>
            <a:pPr marL="1753721" lvl="2" indent="-584574" algn="l">
              <a:lnSpc>
                <a:spcPts val="5685"/>
              </a:lnSpc>
              <a:spcBef>
                <a:spcPct val="0"/>
              </a:spcBef>
              <a:buFont typeface="Arial"/>
              <a:buChar char="⚬"/>
            </a:pPr>
            <a:r>
              <a:rPr lang="en-US" sz="4061" spc="-333">
                <a:solidFill>
                  <a:srgbClr val="000000"/>
                </a:solidFill>
                <a:latin typeface="Public Sans"/>
                <a:ea typeface="Public Sans"/>
                <a:cs typeface="Public Sans"/>
                <a:sym typeface="Public Sans"/>
              </a:rPr>
              <a:t>Dynamically assigns tasks to available vehicles.</a:t>
            </a:r>
          </a:p>
          <a:p>
            <a:pPr marL="876860" lvl="1" indent="-438430" algn="l">
              <a:lnSpc>
                <a:spcPts val="5685"/>
              </a:lnSpc>
              <a:spcBef>
                <a:spcPct val="0"/>
              </a:spcBef>
              <a:buFont typeface="Arial"/>
              <a:buChar char="•"/>
            </a:pPr>
            <a:r>
              <a:rPr lang="en-US" sz="4061" spc="-333">
                <a:solidFill>
                  <a:srgbClr val="000000"/>
                </a:solidFill>
                <a:latin typeface="Public Sans"/>
                <a:ea typeface="Public Sans"/>
                <a:cs typeface="Public Sans"/>
                <a:sym typeface="Public Sans"/>
              </a:rPr>
              <a:t>Result: Improved resource utilization and task completion rates.</a:t>
            </a:r>
          </a:p>
          <a:p>
            <a:pPr algn="l">
              <a:lnSpc>
                <a:spcPts val="5685"/>
              </a:lnSpc>
              <a:spcBef>
                <a:spcPct val="0"/>
              </a:spcBef>
            </a:pPr>
            <a:endParaRPr lang="en-US" sz="4061" spc="-333">
              <a:solidFill>
                <a:srgbClr val="000000"/>
              </a:solidFill>
              <a:latin typeface="Public Sans"/>
              <a:ea typeface="Public Sans"/>
              <a:cs typeface="Public Sans"/>
              <a:sym typeface="Public Sans"/>
            </a:endParaRPr>
          </a:p>
        </p:txBody>
      </p:sp>
      <p:sp>
        <p:nvSpPr>
          <p:cNvPr id="3" name="Freeform 3"/>
          <p:cNvSpPr/>
          <p:nvPr/>
        </p:nvSpPr>
        <p:spPr>
          <a:xfrm>
            <a:off x="14456245" y="3086100"/>
            <a:ext cx="2803055" cy="4114800"/>
          </a:xfrm>
          <a:custGeom>
            <a:avLst/>
            <a:gdLst/>
            <a:ahLst/>
            <a:cxnLst/>
            <a:rect l="l" t="t" r="r" b="b"/>
            <a:pathLst>
              <a:path w="2803055" h="4114800">
                <a:moveTo>
                  <a:pt x="0" y="0"/>
                </a:moveTo>
                <a:lnTo>
                  <a:pt x="2803055" y="0"/>
                </a:lnTo>
                <a:lnTo>
                  <a:pt x="280305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257768" y="473669"/>
            <a:ext cx="15363433" cy="828040"/>
          </a:xfrm>
          <a:prstGeom prst="rect">
            <a:avLst/>
          </a:prstGeom>
        </p:spPr>
        <p:txBody>
          <a:bodyPr lIns="0" tIns="0" rIns="0" bIns="0" rtlCol="0" anchor="t">
            <a:spAutoFit/>
          </a:bodyPr>
          <a:lstStyle/>
          <a:p>
            <a:pPr algn="ctr">
              <a:lnSpc>
                <a:spcPts val="6860"/>
              </a:lnSpc>
            </a:pPr>
            <a:r>
              <a:rPr lang="en-US" sz="4900" b="1">
                <a:solidFill>
                  <a:srgbClr val="000000"/>
                </a:solidFill>
                <a:latin typeface="Atkinson Hyperlegible Bold"/>
                <a:ea typeface="Atkinson Hyperlegible Bold"/>
                <a:cs typeface="Atkinson Hyperlegible Bold"/>
                <a:sym typeface="Atkinson Hyperlegible Bold"/>
              </a:rPr>
              <a:t>Scheduler and Task Allocation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57768" y="473669"/>
            <a:ext cx="15363433" cy="2561590"/>
          </a:xfrm>
          <a:prstGeom prst="rect">
            <a:avLst/>
          </a:prstGeom>
        </p:spPr>
        <p:txBody>
          <a:bodyPr lIns="0" tIns="0" rIns="0" bIns="0" rtlCol="0" anchor="t">
            <a:spAutoFit/>
          </a:bodyPr>
          <a:lstStyle/>
          <a:p>
            <a:pPr algn="ctr">
              <a:lnSpc>
                <a:spcPts val="6860"/>
              </a:lnSpc>
            </a:pPr>
            <a:r>
              <a:rPr lang="en-US" sz="4900" b="1">
                <a:solidFill>
                  <a:srgbClr val="000000"/>
                </a:solidFill>
                <a:latin typeface="Atkinson Hyperlegible Bold"/>
                <a:ea typeface="Atkinson Hyperlegible Bold"/>
                <a:cs typeface="Atkinson Hyperlegible Bold"/>
                <a:sym typeface="Atkinson Hyperlegible Bold"/>
              </a:rPr>
              <a:t>Resource Prediction</a:t>
            </a:r>
          </a:p>
          <a:p>
            <a:pPr algn="ctr">
              <a:lnSpc>
                <a:spcPts val="6860"/>
              </a:lnSpc>
            </a:pPr>
            <a:endParaRPr lang="en-US" sz="4900" b="1">
              <a:solidFill>
                <a:srgbClr val="000000"/>
              </a:solidFill>
              <a:latin typeface="Atkinson Hyperlegible Bold"/>
              <a:ea typeface="Atkinson Hyperlegible Bold"/>
              <a:cs typeface="Atkinson Hyperlegible Bold"/>
              <a:sym typeface="Atkinson Hyperlegible Bold"/>
            </a:endParaRPr>
          </a:p>
          <a:p>
            <a:pPr algn="ctr">
              <a:lnSpc>
                <a:spcPts val="6860"/>
              </a:lnSpc>
            </a:pPr>
            <a:endParaRPr lang="en-US" sz="4900" b="1">
              <a:solidFill>
                <a:srgbClr val="000000"/>
              </a:solidFill>
              <a:latin typeface="Atkinson Hyperlegible Bold"/>
              <a:ea typeface="Atkinson Hyperlegible Bold"/>
              <a:cs typeface="Atkinson Hyperlegible Bold"/>
              <a:sym typeface="Atkinson Hyperlegible Bold"/>
            </a:endParaRPr>
          </a:p>
        </p:txBody>
      </p:sp>
      <p:sp>
        <p:nvSpPr>
          <p:cNvPr id="3" name="TextBox 3"/>
          <p:cNvSpPr txBox="1"/>
          <p:nvPr/>
        </p:nvSpPr>
        <p:spPr>
          <a:xfrm>
            <a:off x="521324" y="2619790"/>
            <a:ext cx="12672383" cy="4971221"/>
          </a:xfrm>
          <a:prstGeom prst="rect">
            <a:avLst/>
          </a:prstGeom>
        </p:spPr>
        <p:txBody>
          <a:bodyPr lIns="0" tIns="0" rIns="0" bIns="0" rtlCol="0" anchor="t">
            <a:spAutoFit/>
          </a:bodyPr>
          <a:lstStyle/>
          <a:p>
            <a:pPr marL="873914" lvl="1" indent="-436957" algn="l">
              <a:lnSpc>
                <a:spcPts val="5666"/>
              </a:lnSpc>
              <a:buFont typeface="Arial"/>
              <a:buChar char="•"/>
            </a:pPr>
            <a:r>
              <a:rPr lang="en-US" sz="4047" spc="-331">
                <a:solidFill>
                  <a:srgbClr val="000000"/>
                </a:solidFill>
                <a:latin typeface="Public Sans"/>
                <a:ea typeface="Public Sans"/>
                <a:cs typeface="Public Sans"/>
                <a:sym typeface="Public Sans"/>
              </a:rPr>
              <a:t>ResourcePredictor.java:</a:t>
            </a:r>
          </a:p>
          <a:p>
            <a:pPr marL="1747828" lvl="2" indent="-582609" algn="l">
              <a:lnSpc>
                <a:spcPts val="5666"/>
              </a:lnSpc>
              <a:spcBef>
                <a:spcPct val="0"/>
              </a:spcBef>
              <a:buFont typeface="Arial"/>
              <a:buChar char="⚬"/>
            </a:pPr>
            <a:r>
              <a:rPr lang="en-US" sz="4047" spc="-331">
                <a:solidFill>
                  <a:srgbClr val="000000"/>
                </a:solidFill>
                <a:latin typeface="Public Sans"/>
                <a:ea typeface="Public Sans"/>
                <a:cs typeface="Public Sans"/>
                <a:sym typeface="Public Sans"/>
              </a:rPr>
              <a:t>Uses past data to forecast vehicle resource availability.</a:t>
            </a:r>
          </a:p>
          <a:p>
            <a:pPr marL="873914" lvl="1" indent="-436957" algn="l">
              <a:lnSpc>
                <a:spcPts val="5666"/>
              </a:lnSpc>
              <a:spcBef>
                <a:spcPct val="0"/>
              </a:spcBef>
              <a:buFont typeface="Arial"/>
              <a:buChar char="•"/>
            </a:pPr>
            <a:r>
              <a:rPr lang="en-US" sz="4047" spc="-331">
                <a:solidFill>
                  <a:srgbClr val="000000"/>
                </a:solidFill>
                <a:latin typeface="Public Sans"/>
                <a:ea typeface="Public Sans"/>
                <a:cs typeface="Public Sans"/>
                <a:sym typeface="Public Sans"/>
              </a:rPr>
              <a:t>Python scripts:</a:t>
            </a:r>
          </a:p>
          <a:p>
            <a:pPr marL="1747828" lvl="2" indent="-582609" algn="l">
              <a:lnSpc>
                <a:spcPts val="5666"/>
              </a:lnSpc>
              <a:spcBef>
                <a:spcPct val="0"/>
              </a:spcBef>
              <a:buFont typeface="Arial"/>
              <a:buChar char="⚬"/>
            </a:pPr>
            <a:r>
              <a:rPr lang="en-US" sz="4047" spc="-331">
                <a:solidFill>
                  <a:srgbClr val="000000"/>
                </a:solidFill>
                <a:latin typeface="Public Sans"/>
                <a:ea typeface="Public Sans"/>
                <a:cs typeface="Public Sans"/>
                <a:sym typeface="Public Sans"/>
              </a:rPr>
              <a:t>speed_predictor.py, xy_predictor.py implement regression models.</a:t>
            </a:r>
          </a:p>
          <a:p>
            <a:pPr marL="1747828" lvl="2" indent="-582609" algn="l">
              <a:lnSpc>
                <a:spcPts val="5666"/>
              </a:lnSpc>
              <a:spcBef>
                <a:spcPct val="0"/>
              </a:spcBef>
              <a:buFont typeface="Arial"/>
              <a:buChar char="⚬"/>
            </a:pPr>
            <a:r>
              <a:rPr lang="en-US" sz="4047" spc="-331">
                <a:solidFill>
                  <a:srgbClr val="000000"/>
                </a:solidFill>
                <a:latin typeface="Public Sans"/>
                <a:ea typeface="Public Sans"/>
                <a:cs typeface="Public Sans"/>
                <a:sym typeface="Public Sans"/>
              </a:rPr>
              <a:t>Helps MARINA adapt to varying speeds and locations</a:t>
            </a:r>
          </a:p>
          <a:p>
            <a:pPr algn="l">
              <a:lnSpc>
                <a:spcPts val="5666"/>
              </a:lnSpc>
              <a:spcBef>
                <a:spcPct val="0"/>
              </a:spcBef>
            </a:pPr>
            <a:endParaRPr lang="en-US" sz="4047" spc="-331">
              <a:solidFill>
                <a:srgbClr val="000000"/>
              </a:solidFill>
              <a:latin typeface="Public Sans"/>
              <a:ea typeface="Public Sans"/>
              <a:cs typeface="Public Sans"/>
              <a:sym typeface="Public Sans"/>
            </a:endParaRPr>
          </a:p>
        </p:txBody>
      </p:sp>
      <p:sp>
        <p:nvSpPr>
          <p:cNvPr id="4" name="Freeform 4"/>
          <p:cNvSpPr/>
          <p:nvPr/>
        </p:nvSpPr>
        <p:spPr>
          <a:xfrm>
            <a:off x="14116644" y="3035259"/>
            <a:ext cx="3389099" cy="4114800"/>
          </a:xfrm>
          <a:custGeom>
            <a:avLst/>
            <a:gdLst/>
            <a:ahLst/>
            <a:cxnLst/>
            <a:rect l="l" t="t" r="r" b="b"/>
            <a:pathLst>
              <a:path w="3389099" h="4114800">
                <a:moveTo>
                  <a:pt x="0" y="0"/>
                </a:moveTo>
                <a:lnTo>
                  <a:pt x="3389099" y="0"/>
                </a:lnTo>
                <a:lnTo>
                  <a:pt x="338909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57768" y="473669"/>
            <a:ext cx="15363433" cy="2561590"/>
          </a:xfrm>
          <a:prstGeom prst="rect">
            <a:avLst/>
          </a:prstGeom>
        </p:spPr>
        <p:txBody>
          <a:bodyPr lIns="0" tIns="0" rIns="0" bIns="0" rtlCol="0" anchor="t">
            <a:spAutoFit/>
          </a:bodyPr>
          <a:lstStyle/>
          <a:p>
            <a:pPr algn="ctr">
              <a:lnSpc>
                <a:spcPts val="6860"/>
              </a:lnSpc>
            </a:pPr>
            <a:r>
              <a:rPr lang="en-US" sz="4900" b="1">
                <a:solidFill>
                  <a:srgbClr val="000000"/>
                </a:solidFill>
                <a:latin typeface="Atkinson Hyperlegible Bold"/>
                <a:ea typeface="Atkinson Hyperlegible Bold"/>
                <a:cs typeface="Atkinson Hyperlegible Bold"/>
                <a:sym typeface="Atkinson Hyperlegible Bold"/>
              </a:rPr>
              <a:t>Integration &amp; Testing</a:t>
            </a:r>
          </a:p>
          <a:p>
            <a:pPr algn="ctr">
              <a:lnSpc>
                <a:spcPts val="6860"/>
              </a:lnSpc>
            </a:pPr>
            <a:endParaRPr lang="en-US" sz="4900" b="1">
              <a:solidFill>
                <a:srgbClr val="000000"/>
              </a:solidFill>
              <a:latin typeface="Atkinson Hyperlegible Bold"/>
              <a:ea typeface="Atkinson Hyperlegible Bold"/>
              <a:cs typeface="Atkinson Hyperlegible Bold"/>
              <a:sym typeface="Atkinson Hyperlegible Bold"/>
            </a:endParaRPr>
          </a:p>
          <a:p>
            <a:pPr algn="ctr">
              <a:lnSpc>
                <a:spcPts val="6860"/>
              </a:lnSpc>
            </a:pPr>
            <a:endParaRPr lang="en-US" sz="4900" b="1">
              <a:solidFill>
                <a:srgbClr val="000000"/>
              </a:solidFill>
              <a:latin typeface="Atkinson Hyperlegible Bold"/>
              <a:ea typeface="Atkinson Hyperlegible Bold"/>
              <a:cs typeface="Atkinson Hyperlegible Bold"/>
              <a:sym typeface="Atkinson Hyperlegible Bold"/>
            </a:endParaRPr>
          </a:p>
        </p:txBody>
      </p:sp>
      <p:sp>
        <p:nvSpPr>
          <p:cNvPr id="3" name="TextBox 3"/>
          <p:cNvSpPr txBox="1"/>
          <p:nvPr/>
        </p:nvSpPr>
        <p:spPr>
          <a:xfrm>
            <a:off x="501596" y="2323714"/>
            <a:ext cx="12619109" cy="6455057"/>
          </a:xfrm>
          <a:prstGeom prst="rect">
            <a:avLst/>
          </a:prstGeom>
        </p:spPr>
        <p:txBody>
          <a:bodyPr lIns="0" tIns="0" rIns="0" bIns="0" rtlCol="0" anchor="t">
            <a:spAutoFit/>
          </a:bodyPr>
          <a:lstStyle/>
          <a:p>
            <a:pPr marL="886082" lvl="1" indent="-443041" algn="l">
              <a:lnSpc>
                <a:spcPts val="5745"/>
              </a:lnSpc>
              <a:spcBef>
                <a:spcPct val="0"/>
              </a:spcBef>
              <a:buFont typeface="Arial"/>
              <a:buChar char="•"/>
            </a:pPr>
            <a:r>
              <a:rPr lang="en-US" sz="4104" spc="-336">
                <a:solidFill>
                  <a:srgbClr val="000000"/>
                </a:solidFill>
                <a:latin typeface="Public Sans"/>
                <a:ea typeface="Public Sans"/>
                <a:cs typeface="Public Sans"/>
                <a:sym typeface="Public Sans"/>
              </a:rPr>
              <a:t>TraceLoader.java reads vehicle movement data.</a:t>
            </a:r>
          </a:p>
          <a:p>
            <a:pPr marL="886082" lvl="1" indent="-443041" algn="l">
              <a:lnSpc>
                <a:spcPts val="5745"/>
              </a:lnSpc>
              <a:spcBef>
                <a:spcPct val="0"/>
              </a:spcBef>
              <a:buFont typeface="Arial"/>
              <a:buChar char="•"/>
            </a:pPr>
            <a:r>
              <a:rPr lang="en-US" sz="4104" spc="-336">
                <a:solidFill>
                  <a:srgbClr val="000000"/>
                </a:solidFill>
                <a:latin typeface="Public Sans"/>
                <a:ea typeface="Public Sans"/>
                <a:cs typeface="Public Sans"/>
                <a:sym typeface="Public Sans"/>
              </a:rPr>
              <a:t>TestMARINA.java runs simulations with real-world scenarios.</a:t>
            </a:r>
          </a:p>
          <a:p>
            <a:pPr algn="l">
              <a:lnSpc>
                <a:spcPts val="5745"/>
              </a:lnSpc>
              <a:spcBef>
                <a:spcPct val="0"/>
              </a:spcBef>
            </a:pPr>
            <a:endParaRPr lang="en-US" sz="4104" spc="-336">
              <a:solidFill>
                <a:srgbClr val="000000"/>
              </a:solidFill>
              <a:latin typeface="Public Sans"/>
              <a:ea typeface="Public Sans"/>
              <a:cs typeface="Public Sans"/>
              <a:sym typeface="Public Sans"/>
            </a:endParaRPr>
          </a:p>
          <a:p>
            <a:pPr algn="l">
              <a:lnSpc>
                <a:spcPts val="5745"/>
              </a:lnSpc>
              <a:spcBef>
                <a:spcPct val="0"/>
              </a:spcBef>
            </a:pPr>
            <a:r>
              <a:rPr lang="en-US" sz="4104" spc="-336">
                <a:solidFill>
                  <a:srgbClr val="000000"/>
                </a:solidFill>
                <a:latin typeface="Public Sans"/>
                <a:ea typeface="Public Sans"/>
                <a:cs typeface="Public Sans"/>
                <a:sym typeface="Public Sans"/>
              </a:rPr>
              <a:t>Outputs  show:</a:t>
            </a:r>
          </a:p>
          <a:p>
            <a:pPr marL="886082" lvl="1" indent="-443041" algn="l">
              <a:lnSpc>
                <a:spcPts val="5745"/>
              </a:lnSpc>
              <a:spcBef>
                <a:spcPct val="0"/>
              </a:spcBef>
              <a:buFont typeface="Arial"/>
              <a:buChar char="•"/>
            </a:pPr>
            <a:r>
              <a:rPr lang="en-US" sz="4104" spc="-336">
                <a:solidFill>
                  <a:srgbClr val="000000"/>
                </a:solidFill>
                <a:latin typeface="Public Sans"/>
                <a:ea typeface="Public Sans"/>
                <a:cs typeface="Public Sans"/>
                <a:sym typeface="Public Sans"/>
              </a:rPr>
              <a:t>Task success rates.</a:t>
            </a:r>
          </a:p>
          <a:p>
            <a:pPr marL="886082" lvl="1" indent="-443041" algn="l">
              <a:lnSpc>
                <a:spcPts val="5745"/>
              </a:lnSpc>
              <a:spcBef>
                <a:spcPct val="0"/>
              </a:spcBef>
              <a:buFont typeface="Arial"/>
              <a:buChar char="•"/>
            </a:pPr>
            <a:r>
              <a:rPr lang="en-US" sz="4104" spc="-336">
                <a:solidFill>
                  <a:srgbClr val="000000"/>
                </a:solidFill>
                <a:latin typeface="Public Sans"/>
                <a:ea typeface="Public Sans"/>
                <a:cs typeface="Public Sans"/>
                <a:sym typeface="Public Sans"/>
              </a:rPr>
              <a:t>System latency and efficiency.</a:t>
            </a:r>
          </a:p>
          <a:p>
            <a:pPr marL="886082" lvl="1" indent="-443041" algn="l">
              <a:lnSpc>
                <a:spcPts val="5745"/>
              </a:lnSpc>
              <a:spcBef>
                <a:spcPct val="0"/>
              </a:spcBef>
              <a:buFont typeface="Arial"/>
              <a:buChar char="•"/>
            </a:pPr>
            <a:r>
              <a:rPr lang="en-US" sz="4104" spc="-336">
                <a:solidFill>
                  <a:srgbClr val="000000"/>
                </a:solidFill>
                <a:latin typeface="Public Sans"/>
                <a:ea typeface="Public Sans"/>
                <a:cs typeface="Public Sans"/>
                <a:sym typeface="Public Sans"/>
              </a:rPr>
              <a:t>Python models enhance scheduling decisions in real-time.</a:t>
            </a:r>
          </a:p>
          <a:p>
            <a:pPr algn="l">
              <a:lnSpc>
                <a:spcPts val="5745"/>
              </a:lnSpc>
              <a:spcBef>
                <a:spcPct val="0"/>
              </a:spcBef>
            </a:pPr>
            <a:endParaRPr lang="en-US" sz="4104" spc="-336">
              <a:solidFill>
                <a:srgbClr val="000000"/>
              </a:solidFill>
              <a:latin typeface="Public Sans"/>
              <a:ea typeface="Public Sans"/>
              <a:cs typeface="Public Sans"/>
              <a:sym typeface="Public Sans"/>
            </a:endParaRPr>
          </a:p>
        </p:txBody>
      </p:sp>
      <p:sp>
        <p:nvSpPr>
          <p:cNvPr id="4" name="Freeform 4"/>
          <p:cNvSpPr/>
          <p:nvPr/>
        </p:nvSpPr>
        <p:spPr>
          <a:xfrm>
            <a:off x="13884098" y="2779772"/>
            <a:ext cx="3840478" cy="3603067"/>
          </a:xfrm>
          <a:custGeom>
            <a:avLst/>
            <a:gdLst/>
            <a:ahLst/>
            <a:cxnLst/>
            <a:rect l="l" t="t" r="r" b="b"/>
            <a:pathLst>
              <a:path w="3840478" h="3603067">
                <a:moveTo>
                  <a:pt x="0" y="0"/>
                </a:moveTo>
                <a:lnTo>
                  <a:pt x="3840479" y="0"/>
                </a:lnTo>
                <a:lnTo>
                  <a:pt x="3840479" y="3603067"/>
                </a:lnTo>
                <a:lnTo>
                  <a:pt x="0" y="36030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26698" y="3684781"/>
            <a:ext cx="6914101" cy="3221013"/>
          </a:xfrm>
          <a:prstGeom prst="rect">
            <a:avLst/>
          </a:prstGeom>
        </p:spPr>
        <p:txBody>
          <a:bodyPr lIns="0" tIns="0" rIns="0" bIns="0" rtlCol="0" anchor="t">
            <a:spAutoFit/>
          </a:bodyPr>
          <a:lstStyle/>
          <a:p>
            <a:pPr marL="0" lvl="0" indent="0" algn="l">
              <a:lnSpc>
                <a:spcPts val="2589"/>
              </a:lnSpc>
              <a:spcBef>
                <a:spcPct val="0"/>
              </a:spcBef>
            </a:pPr>
            <a:r>
              <a:rPr lang="en-US" sz="1917" u="none" spc="115">
                <a:solidFill>
                  <a:srgbClr val="000000"/>
                </a:solidFill>
                <a:latin typeface="DM Sans"/>
                <a:ea typeface="DM Sans"/>
                <a:cs typeface="DM Sans"/>
                <a:sym typeface="DM Sans"/>
              </a:rPr>
              <a:t>This project focuses on predicting vehicle trajectories using a three-module system built with Long Short-Term Memory (LSTM) neural networks. The system's main purpose is to forecast a vehicle's future position, speed, and CPU usage. The modular design makes the code organized and easy to manage, while the LSTMs are used for their ability to handle time-series data. The program also features dynamic data handling, allowing for new vehicle data to be added on the fly.</a:t>
            </a:r>
          </a:p>
          <a:p>
            <a:pPr marL="0" lvl="0" indent="0" algn="l">
              <a:lnSpc>
                <a:spcPts val="2589"/>
              </a:lnSpc>
              <a:spcBef>
                <a:spcPct val="0"/>
              </a:spcBef>
            </a:pPr>
            <a:endParaRPr lang="en-US" sz="1917" u="none" spc="115">
              <a:solidFill>
                <a:srgbClr val="000000"/>
              </a:solidFill>
              <a:latin typeface="DM Sans"/>
              <a:ea typeface="DM Sans"/>
              <a:cs typeface="DM Sans"/>
              <a:sym typeface="DM Sans"/>
            </a:endParaRPr>
          </a:p>
        </p:txBody>
      </p:sp>
      <p:grpSp>
        <p:nvGrpSpPr>
          <p:cNvPr id="3" name="Group 3"/>
          <p:cNvGrpSpPr/>
          <p:nvPr/>
        </p:nvGrpSpPr>
        <p:grpSpPr>
          <a:xfrm>
            <a:off x="1426698" y="6768114"/>
            <a:ext cx="1024593" cy="102459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42288" y="6987480"/>
            <a:ext cx="593413" cy="585861"/>
          </a:xfrm>
          <a:custGeom>
            <a:avLst/>
            <a:gdLst/>
            <a:ahLst/>
            <a:cxnLst/>
            <a:rect l="l" t="t" r="r" b="b"/>
            <a:pathLst>
              <a:path w="593413" h="585861">
                <a:moveTo>
                  <a:pt x="0" y="0"/>
                </a:moveTo>
                <a:lnTo>
                  <a:pt x="593414" y="0"/>
                </a:lnTo>
                <a:lnTo>
                  <a:pt x="593414" y="585861"/>
                </a:lnTo>
                <a:lnTo>
                  <a:pt x="0" y="5858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2814538" y="6768114"/>
            <a:ext cx="1024593" cy="102459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2980805" y="7052031"/>
            <a:ext cx="692059" cy="456759"/>
          </a:xfrm>
          <a:custGeom>
            <a:avLst/>
            <a:gdLst/>
            <a:ahLst/>
            <a:cxnLst/>
            <a:rect l="l" t="t" r="r" b="b"/>
            <a:pathLst>
              <a:path w="692059" h="456759">
                <a:moveTo>
                  <a:pt x="0" y="0"/>
                </a:moveTo>
                <a:lnTo>
                  <a:pt x="692059" y="0"/>
                </a:lnTo>
                <a:lnTo>
                  <a:pt x="692059" y="456759"/>
                </a:lnTo>
                <a:lnTo>
                  <a:pt x="0" y="4567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1" name="Group 11"/>
          <p:cNvGrpSpPr/>
          <p:nvPr/>
        </p:nvGrpSpPr>
        <p:grpSpPr>
          <a:xfrm>
            <a:off x="4201081" y="6768114"/>
            <a:ext cx="1024593" cy="102459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4466924" y="6981185"/>
            <a:ext cx="492906" cy="598451"/>
          </a:xfrm>
          <a:custGeom>
            <a:avLst/>
            <a:gdLst/>
            <a:ahLst/>
            <a:cxnLst/>
            <a:rect l="l" t="t" r="r" b="b"/>
            <a:pathLst>
              <a:path w="492906" h="598451">
                <a:moveTo>
                  <a:pt x="0" y="0"/>
                </a:moveTo>
                <a:lnTo>
                  <a:pt x="492906" y="0"/>
                </a:lnTo>
                <a:lnTo>
                  <a:pt x="492906" y="598451"/>
                </a:lnTo>
                <a:lnTo>
                  <a:pt x="0" y="5984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9144000" y="2386794"/>
            <a:ext cx="8498516" cy="5513412"/>
          </a:xfrm>
          <a:custGeom>
            <a:avLst/>
            <a:gdLst/>
            <a:ahLst/>
            <a:cxnLst/>
            <a:rect l="l" t="t" r="r" b="b"/>
            <a:pathLst>
              <a:path w="8498516" h="5513412">
                <a:moveTo>
                  <a:pt x="0" y="0"/>
                </a:moveTo>
                <a:lnTo>
                  <a:pt x="8498516" y="0"/>
                </a:lnTo>
                <a:lnTo>
                  <a:pt x="8498516" y="5513412"/>
                </a:lnTo>
                <a:lnTo>
                  <a:pt x="0" y="5513412"/>
                </a:lnTo>
                <a:lnTo>
                  <a:pt x="0" y="0"/>
                </a:lnTo>
                <a:close/>
              </a:path>
            </a:pathLst>
          </a:custGeom>
          <a:blipFill>
            <a:blip r:embed="rId8"/>
            <a:stretch>
              <a:fillRect/>
            </a:stretch>
          </a:blipFill>
        </p:spPr>
      </p:sp>
      <p:sp>
        <p:nvSpPr>
          <p:cNvPr id="16" name="Freeform 16"/>
          <p:cNvSpPr/>
          <p:nvPr/>
        </p:nvSpPr>
        <p:spPr>
          <a:xfrm>
            <a:off x="9919523" y="2955708"/>
            <a:ext cx="7052162" cy="3966185"/>
          </a:xfrm>
          <a:custGeom>
            <a:avLst/>
            <a:gdLst/>
            <a:ahLst/>
            <a:cxnLst/>
            <a:rect l="l" t="t" r="r" b="b"/>
            <a:pathLst>
              <a:path w="7052162" h="3966185">
                <a:moveTo>
                  <a:pt x="0" y="0"/>
                </a:moveTo>
                <a:lnTo>
                  <a:pt x="7052162" y="0"/>
                </a:lnTo>
                <a:lnTo>
                  <a:pt x="7052162" y="3966185"/>
                </a:lnTo>
                <a:lnTo>
                  <a:pt x="0" y="3966185"/>
                </a:lnTo>
                <a:lnTo>
                  <a:pt x="0" y="0"/>
                </a:lnTo>
                <a:close/>
              </a:path>
            </a:pathLst>
          </a:custGeom>
          <a:blipFill>
            <a:blip r:embed="rId9"/>
            <a:stretch>
              <a:fillRect t="-9232" b="-9232"/>
            </a:stretch>
          </a:blipFill>
        </p:spPr>
      </p:sp>
      <p:sp>
        <p:nvSpPr>
          <p:cNvPr id="17" name="TextBox 17"/>
          <p:cNvSpPr txBox="1"/>
          <p:nvPr/>
        </p:nvSpPr>
        <p:spPr>
          <a:xfrm>
            <a:off x="1426698" y="2048129"/>
            <a:ext cx="7425121" cy="1587094"/>
          </a:xfrm>
          <a:prstGeom prst="rect">
            <a:avLst/>
          </a:prstGeom>
        </p:spPr>
        <p:txBody>
          <a:bodyPr lIns="0" tIns="0" rIns="0" bIns="0" rtlCol="0" anchor="t">
            <a:spAutoFit/>
          </a:bodyPr>
          <a:lstStyle/>
          <a:p>
            <a:pPr algn="l">
              <a:lnSpc>
                <a:spcPts val="11096"/>
              </a:lnSpc>
            </a:pPr>
            <a:r>
              <a:rPr lang="en-US" sz="11439" b="1">
                <a:solidFill>
                  <a:srgbClr val="1C2120"/>
                </a:solidFill>
                <a:latin typeface="Poppins Bold"/>
                <a:ea typeface="Poppins Bold"/>
                <a:cs typeface="Poppins Bold"/>
                <a:sym typeface="Poppins Bold"/>
              </a:rPr>
              <a:t>LSTM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336740" y="2932889"/>
            <a:ext cx="3443373" cy="5819980"/>
            <a:chOff x="0" y="0"/>
            <a:chExt cx="612460" cy="1035178"/>
          </a:xfrm>
        </p:grpSpPr>
        <p:sp>
          <p:nvSpPr>
            <p:cNvPr id="3" name="Freeform 3"/>
            <p:cNvSpPr/>
            <p:nvPr/>
          </p:nvSpPr>
          <p:spPr>
            <a:xfrm>
              <a:off x="0" y="0"/>
              <a:ext cx="612460" cy="1035178"/>
            </a:xfrm>
            <a:custGeom>
              <a:avLst/>
              <a:gdLst/>
              <a:ahLst/>
              <a:cxnLst/>
              <a:rect l="l" t="t" r="r" b="b"/>
              <a:pathLst>
                <a:path w="612460" h="1035178">
                  <a:moveTo>
                    <a:pt x="0" y="0"/>
                  </a:moveTo>
                  <a:lnTo>
                    <a:pt x="612460" y="0"/>
                  </a:lnTo>
                  <a:lnTo>
                    <a:pt x="612460" y="1035178"/>
                  </a:lnTo>
                  <a:lnTo>
                    <a:pt x="0" y="1035178"/>
                  </a:lnTo>
                  <a:close/>
                </a:path>
              </a:pathLst>
            </a:custGeom>
            <a:blipFill>
              <a:blip r:embed="rId2"/>
              <a:stretch>
                <a:fillRect l="-9171" r="-4705"/>
              </a:stretch>
            </a:blipFill>
          </p:spPr>
        </p:sp>
      </p:grpSp>
      <p:grpSp>
        <p:nvGrpSpPr>
          <p:cNvPr id="4" name="Group 4"/>
          <p:cNvGrpSpPr/>
          <p:nvPr/>
        </p:nvGrpSpPr>
        <p:grpSpPr>
          <a:xfrm>
            <a:off x="5780113" y="2932889"/>
            <a:ext cx="3363887" cy="5819980"/>
            <a:chOff x="0" y="0"/>
            <a:chExt cx="1017147" cy="1759802"/>
          </a:xfrm>
        </p:grpSpPr>
        <p:sp>
          <p:nvSpPr>
            <p:cNvPr id="5" name="Freeform 5"/>
            <p:cNvSpPr/>
            <p:nvPr/>
          </p:nvSpPr>
          <p:spPr>
            <a:xfrm>
              <a:off x="0" y="0"/>
              <a:ext cx="1017147" cy="1759802"/>
            </a:xfrm>
            <a:custGeom>
              <a:avLst/>
              <a:gdLst/>
              <a:ahLst/>
              <a:cxnLst/>
              <a:rect l="l" t="t" r="r" b="b"/>
              <a:pathLst>
                <a:path w="1017147" h="1759802">
                  <a:moveTo>
                    <a:pt x="0" y="0"/>
                  </a:moveTo>
                  <a:lnTo>
                    <a:pt x="1017147" y="0"/>
                  </a:lnTo>
                  <a:lnTo>
                    <a:pt x="1017147" y="1759802"/>
                  </a:lnTo>
                  <a:lnTo>
                    <a:pt x="0" y="1759802"/>
                  </a:lnTo>
                  <a:close/>
                </a:path>
              </a:pathLst>
            </a:custGeom>
            <a:solidFill>
              <a:srgbClr val="AAD7D4"/>
            </a:solidFill>
          </p:spPr>
        </p:sp>
        <p:sp>
          <p:nvSpPr>
            <p:cNvPr id="6" name="TextBox 6"/>
            <p:cNvSpPr txBox="1"/>
            <p:nvPr/>
          </p:nvSpPr>
          <p:spPr>
            <a:xfrm>
              <a:off x="0" y="-28575"/>
              <a:ext cx="1017147" cy="1788377"/>
            </a:xfrm>
            <a:prstGeom prst="rect">
              <a:avLst/>
            </a:prstGeom>
          </p:spPr>
          <p:txBody>
            <a:bodyPr lIns="50800" tIns="50800" rIns="50800" bIns="50800" rtlCol="0" anchor="ctr"/>
            <a:lstStyle/>
            <a:p>
              <a:pPr algn="ctr">
                <a:lnSpc>
                  <a:spcPts val="2520"/>
                </a:lnSpc>
              </a:pPr>
              <a:r>
                <a:rPr lang="en-US" sz="1800">
                  <a:solidFill>
                    <a:srgbClr val="000000"/>
                  </a:solidFill>
                  <a:latin typeface="Open Sans Light"/>
                  <a:ea typeface="Open Sans Light"/>
                  <a:cs typeface="Open Sans Light"/>
                  <a:sym typeface="Open Sans Light"/>
                </a:rPr>
                <a:t>This code builds a time-series predictor that forecasts future (x, y) values using an LSTM (Long Short-Term Memory) neural network. It first scales the input data between 0 and 1 using MinMaxScaler to improve model training. The model is trained with the Adam optimizer and mean squared error loss over a chosen number of epochs and batch size.</a:t>
              </a:r>
            </a:p>
          </p:txBody>
        </p:sp>
      </p:grpSp>
      <p:grpSp>
        <p:nvGrpSpPr>
          <p:cNvPr id="7" name="Group 7"/>
          <p:cNvGrpSpPr/>
          <p:nvPr/>
        </p:nvGrpSpPr>
        <p:grpSpPr>
          <a:xfrm>
            <a:off x="9144000" y="2932889"/>
            <a:ext cx="3443373" cy="5819980"/>
            <a:chOff x="0" y="0"/>
            <a:chExt cx="612460" cy="1035178"/>
          </a:xfrm>
        </p:grpSpPr>
        <p:sp>
          <p:nvSpPr>
            <p:cNvPr id="8" name="Freeform 8"/>
            <p:cNvSpPr/>
            <p:nvPr/>
          </p:nvSpPr>
          <p:spPr>
            <a:xfrm>
              <a:off x="0" y="0"/>
              <a:ext cx="612460" cy="1035178"/>
            </a:xfrm>
            <a:custGeom>
              <a:avLst/>
              <a:gdLst/>
              <a:ahLst/>
              <a:cxnLst/>
              <a:rect l="l" t="t" r="r" b="b"/>
              <a:pathLst>
                <a:path w="612460" h="1035178">
                  <a:moveTo>
                    <a:pt x="0" y="0"/>
                  </a:moveTo>
                  <a:lnTo>
                    <a:pt x="612460" y="0"/>
                  </a:lnTo>
                  <a:lnTo>
                    <a:pt x="612460" y="1035178"/>
                  </a:lnTo>
                  <a:lnTo>
                    <a:pt x="0" y="1035178"/>
                  </a:lnTo>
                  <a:close/>
                </a:path>
              </a:pathLst>
            </a:custGeom>
            <a:blipFill>
              <a:blip r:embed="rId3"/>
              <a:stretch>
                <a:fillRect l="-6304" r="-6304"/>
              </a:stretch>
            </a:blipFill>
          </p:spPr>
        </p:sp>
      </p:grpSp>
      <p:grpSp>
        <p:nvGrpSpPr>
          <p:cNvPr id="9" name="Group 9"/>
          <p:cNvGrpSpPr/>
          <p:nvPr/>
        </p:nvGrpSpPr>
        <p:grpSpPr>
          <a:xfrm>
            <a:off x="12587373" y="2932889"/>
            <a:ext cx="3363887" cy="5819980"/>
            <a:chOff x="0" y="0"/>
            <a:chExt cx="1017147" cy="1759802"/>
          </a:xfrm>
        </p:grpSpPr>
        <p:sp>
          <p:nvSpPr>
            <p:cNvPr id="10" name="Freeform 10"/>
            <p:cNvSpPr/>
            <p:nvPr/>
          </p:nvSpPr>
          <p:spPr>
            <a:xfrm>
              <a:off x="0" y="0"/>
              <a:ext cx="1017147" cy="1759802"/>
            </a:xfrm>
            <a:custGeom>
              <a:avLst/>
              <a:gdLst/>
              <a:ahLst/>
              <a:cxnLst/>
              <a:rect l="l" t="t" r="r" b="b"/>
              <a:pathLst>
                <a:path w="1017147" h="1759802">
                  <a:moveTo>
                    <a:pt x="0" y="0"/>
                  </a:moveTo>
                  <a:lnTo>
                    <a:pt x="1017147" y="0"/>
                  </a:lnTo>
                  <a:lnTo>
                    <a:pt x="1017147" y="1759802"/>
                  </a:lnTo>
                  <a:lnTo>
                    <a:pt x="0" y="1759802"/>
                  </a:lnTo>
                  <a:close/>
                </a:path>
              </a:pathLst>
            </a:custGeom>
            <a:solidFill>
              <a:srgbClr val="AAD7D4"/>
            </a:solidFill>
          </p:spPr>
        </p:sp>
        <p:sp>
          <p:nvSpPr>
            <p:cNvPr id="11" name="TextBox 11"/>
            <p:cNvSpPr txBox="1"/>
            <p:nvPr/>
          </p:nvSpPr>
          <p:spPr>
            <a:xfrm>
              <a:off x="0" y="-28575"/>
              <a:ext cx="1017147" cy="1788377"/>
            </a:xfrm>
            <a:prstGeom prst="rect">
              <a:avLst/>
            </a:prstGeom>
          </p:spPr>
          <p:txBody>
            <a:bodyPr lIns="50800" tIns="50800" rIns="50800" bIns="50800" rtlCol="0" anchor="ctr"/>
            <a:lstStyle/>
            <a:p>
              <a:pPr algn="ctr">
                <a:lnSpc>
                  <a:spcPts val="2520"/>
                </a:lnSpc>
              </a:pPr>
              <a:r>
                <a:rPr lang="en-US" sz="1800">
                  <a:solidFill>
                    <a:srgbClr val="000000"/>
                  </a:solidFill>
                  <a:latin typeface="Open Sans Light"/>
                  <a:ea typeface="Open Sans Light"/>
                  <a:cs typeface="Open Sans Light"/>
                  <a:sym typeface="Open Sans Light"/>
                </a:rPr>
                <a:t>Algorithmically, it uses sliding window sequence generation to turn raw data into supervised learning samples - each input window of time steps predicts the next (x, y) pair. It predicts the next value, appends it to the input window, shifts the window forward, and repeats this process to generate multiple future predictions with previously generated values. </a:t>
              </a:r>
            </a:p>
          </p:txBody>
        </p:sp>
      </p:grpSp>
      <p:sp>
        <p:nvSpPr>
          <p:cNvPr id="12" name="TextBox 12"/>
          <p:cNvSpPr txBox="1"/>
          <p:nvPr/>
        </p:nvSpPr>
        <p:spPr>
          <a:xfrm>
            <a:off x="4354896" y="1254719"/>
            <a:ext cx="9578208" cy="947854"/>
          </a:xfrm>
          <a:prstGeom prst="rect">
            <a:avLst/>
          </a:prstGeom>
        </p:spPr>
        <p:txBody>
          <a:bodyPr lIns="0" tIns="0" rIns="0" bIns="0" rtlCol="0" anchor="t">
            <a:spAutoFit/>
          </a:bodyPr>
          <a:lstStyle/>
          <a:p>
            <a:pPr algn="ctr">
              <a:lnSpc>
                <a:spcPts val="6596"/>
              </a:lnSpc>
            </a:pPr>
            <a:r>
              <a:rPr lang="en-US" sz="6800" b="1">
                <a:solidFill>
                  <a:srgbClr val="1C2120"/>
                </a:solidFill>
                <a:latin typeface="Poppins Bold"/>
                <a:ea typeface="Poppins Bold"/>
                <a:cs typeface="Poppins Bold"/>
                <a:sym typeface="Poppins Bold"/>
              </a:rPr>
              <a:t>LSTM Predictors</a:t>
            </a:r>
          </a:p>
        </p:txBody>
      </p:sp>
      <p:sp>
        <p:nvSpPr>
          <p:cNvPr id="13" name="TextBox 13"/>
          <p:cNvSpPr txBox="1"/>
          <p:nvPr/>
        </p:nvSpPr>
        <p:spPr>
          <a:xfrm>
            <a:off x="6168623" y="3319004"/>
            <a:ext cx="2807444" cy="339154"/>
          </a:xfrm>
          <a:prstGeom prst="rect">
            <a:avLst/>
          </a:prstGeom>
        </p:spPr>
        <p:txBody>
          <a:bodyPr lIns="0" tIns="0" rIns="0" bIns="0" rtlCol="0" anchor="t">
            <a:spAutoFit/>
          </a:bodyPr>
          <a:lstStyle/>
          <a:p>
            <a:pPr algn="l">
              <a:lnSpc>
                <a:spcPts val="2434"/>
              </a:lnSpc>
            </a:pPr>
            <a:r>
              <a:rPr lang="en-US" sz="2254" b="1">
                <a:solidFill>
                  <a:srgbClr val="1C2120"/>
                </a:solidFill>
                <a:latin typeface="Poppins Bold"/>
                <a:ea typeface="Poppins Bold"/>
                <a:cs typeface="Poppins Bold"/>
                <a:sym typeface="Poppins Bold"/>
              </a:rPr>
              <a:t>Position Predictor</a:t>
            </a:r>
          </a:p>
        </p:txBody>
      </p:sp>
      <p:sp>
        <p:nvSpPr>
          <p:cNvPr id="14" name="TextBox 14"/>
          <p:cNvSpPr txBox="1"/>
          <p:nvPr/>
        </p:nvSpPr>
        <p:spPr>
          <a:xfrm>
            <a:off x="12898850" y="3166604"/>
            <a:ext cx="2740932" cy="643954"/>
          </a:xfrm>
          <a:prstGeom prst="rect">
            <a:avLst/>
          </a:prstGeom>
        </p:spPr>
        <p:txBody>
          <a:bodyPr lIns="0" tIns="0" rIns="0" bIns="0" rtlCol="0" anchor="t">
            <a:spAutoFit/>
          </a:bodyPr>
          <a:lstStyle/>
          <a:p>
            <a:pPr algn="l">
              <a:lnSpc>
                <a:spcPts val="2434"/>
              </a:lnSpc>
            </a:pPr>
            <a:r>
              <a:rPr lang="en-US" sz="2254" b="1">
                <a:solidFill>
                  <a:srgbClr val="1C2120"/>
                </a:solidFill>
                <a:latin typeface="Poppins Bold"/>
                <a:ea typeface="Poppins Bold"/>
                <a:cs typeface="Poppins Bold"/>
                <a:sym typeface="Poppins Bold"/>
              </a:rPr>
              <a:t>Position  Predictor algortithm usage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284921"/>
            <a:ext cx="8537476" cy="761793"/>
          </a:xfrm>
          <a:prstGeom prst="rect">
            <a:avLst/>
          </a:prstGeom>
        </p:spPr>
        <p:txBody>
          <a:bodyPr lIns="0" tIns="0" rIns="0" bIns="0" rtlCol="0" anchor="t">
            <a:spAutoFit/>
          </a:bodyPr>
          <a:lstStyle/>
          <a:p>
            <a:pPr algn="l">
              <a:lnSpc>
                <a:spcPts val="5669"/>
              </a:lnSpc>
            </a:pPr>
            <a:r>
              <a:rPr lang="en-US" sz="4972">
                <a:solidFill>
                  <a:srgbClr val="1C2120"/>
                </a:solidFill>
                <a:latin typeface="Poppins"/>
                <a:ea typeface="Poppins"/>
                <a:cs typeface="Poppins"/>
                <a:sym typeface="Poppins"/>
              </a:rPr>
              <a:t>Speed Predictor</a:t>
            </a:r>
          </a:p>
        </p:txBody>
      </p:sp>
      <p:sp>
        <p:nvSpPr>
          <p:cNvPr id="3" name="TextBox 3"/>
          <p:cNvSpPr txBox="1"/>
          <p:nvPr/>
        </p:nvSpPr>
        <p:spPr>
          <a:xfrm>
            <a:off x="2043093" y="2458825"/>
            <a:ext cx="13351098" cy="9584517"/>
          </a:xfrm>
          <a:prstGeom prst="rect">
            <a:avLst/>
          </a:prstGeom>
        </p:spPr>
        <p:txBody>
          <a:bodyPr lIns="0" tIns="0" rIns="0" bIns="0" rtlCol="0" anchor="t">
            <a:spAutoFit/>
          </a:bodyPr>
          <a:lstStyle/>
          <a:p>
            <a:pPr marL="530298" lvl="1" indent="-265149" algn="l">
              <a:lnSpc>
                <a:spcPts val="3315"/>
              </a:lnSpc>
              <a:buFont typeface="Arial"/>
              <a:buChar char="•"/>
            </a:pPr>
            <a:r>
              <a:rPr lang="en-US" sz="2456" spc="147">
                <a:solidFill>
                  <a:srgbClr val="000000"/>
                </a:solidFill>
                <a:latin typeface="DM Sans"/>
                <a:ea typeface="DM Sans"/>
                <a:cs typeface="DM Sans"/>
                <a:sym typeface="DM Sans"/>
              </a:rPr>
              <a:t>Data Preparation: The model uses only historical Speed data . This data is scaled (normalized 0 to 1 ) using minMax and prepared using a sliding window of past time steps.</a:t>
            </a:r>
          </a:p>
          <a:p>
            <a:pPr algn="l">
              <a:lnSpc>
                <a:spcPts val="3315"/>
              </a:lnSpc>
            </a:pPr>
            <a:endParaRPr lang="en-US" sz="2456" spc="147">
              <a:solidFill>
                <a:srgbClr val="000000"/>
              </a:solidFill>
              <a:latin typeface="DM Sans"/>
              <a:ea typeface="DM Sans"/>
              <a:cs typeface="DM Sans"/>
              <a:sym typeface="DM Sans"/>
            </a:endParaRPr>
          </a:p>
          <a:p>
            <a:pPr marL="530298" lvl="1" indent="-265149" algn="l">
              <a:lnSpc>
                <a:spcPts val="3315"/>
              </a:lnSpc>
              <a:buFont typeface="Arial"/>
              <a:buChar char="•"/>
            </a:pPr>
            <a:r>
              <a:rPr lang="en-US" sz="2456" spc="147">
                <a:solidFill>
                  <a:srgbClr val="000000"/>
                </a:solidFill>
                <a:latin typeface="DM Sans"/>
                <a:ea typeface="DM Sans"/>
                <a:cs typeface="DM Sans"/>
                <a:sym typeface="DM Sans"/>
              </a:rPr>
              <a:t>Model Building:  The model uses Stacked LSTMs. The first LSTM learns initial patterns, passing its output to the second LSTM. The final Dense layer outputs the single predicted Speed value.</a:t>
            </a:r>
          </a:p>
          <a:p>
            <a:pPr algn="l">
              <a:lnSpc>
                <a:spcPts val="3315"/>
              </a:lnSpc>
            </a:pPr>
            <a:endParaRPr lang="en-US" sz="2456" spc="147">
              <a:solidFill>
                <a:srgbClr val="000000"/>
              </a:solidFill>
              <a:latin typeface="DM Sans"/>
              <a:ea typeface="DM Sans"/>
              <a:cs typeface="DM Sans"/>
              <a:sym typeface="DM Sans"/>
            </a:endParaRPr>
          </a:p>
          <a:p>
            <a:pPr marL="530298" lvl="1" indent="-265149" algn="l">
              <a:lnSpc>
                <a:spcPts val="3315"/>
              </a:lnSpc>
              <a:buFont typeface="Arial"/>
              <a:buChar char="•"/>
            </a:pPr>
            <a:r>
              <a:rPr lang="en-US" sz="2456" spc="147">
                <a:solidFill>
                  <a:srgbClr val="000000"/>
                </a:solidFill>
                <a:latin typeface="DM Sans"/>
                <a:ea typeface="DM Sans"/>
                <a:cs typeface="DM Sans"/>
                <a:sym typeface="DM Sans"/>
              </a:rPr>
              <a:t> Model Training: Training uses the Adam optimizer to minimize the Mean Squared Error (MSE) loss, allowing the network to learn the time-dependent patterns in the speed sequence.</a:t>
            </a:r>
          </a:p>
          <a:p>
            <a:pPr algn="l">
              <a:lnSpc>
                <a:spcPts val="3315"/>
              </a:lnSpc>
            </a:pPr>
            <a:endParaRPr lang="en-US" sz="2456" spc="147">
              <a:solidFill>
                <a:srgbClr val="000000"/>
              </a:solidFill>
              <a:latin typeface="DM Sans"/>
              <a:ea typeface="DM Sans"/>
              <a:cs typeface="DM Sans"/>
              <a:sym typeface="DM Sans"/>
            </a:endParaRPr>
          </a:p>
          <a:p>
            <a:pPr marL="530298" lvl="1" indent="-265149" algn="l">
              <a:lnSpc>
                <a:spcPts val="3315"/>
              </a:lnSpc>
              <a:buFont typeface="Arial"/>
              <a:buChar char="•"/>
            </a:pPr>
            <a:r>
              <a:rPr lang="en-US" sz="2456" spc="147">
                <a:solidFill>
                  <a:srgbClr val="000000"/>
                </a:solidFill>
                <a:latin typeface="DM Sans"/>
                <a:ea typeface="DM Sans"/>
                <a:cs typeface="DM Sans"/>
                <a:sym typeface="DM Sans"/>
              </a:rPr>
              <a:t>Prediction: Predictions are made one step at a time. Each new Speed prediction is immediately fed back into the input sequence, enabling the model to generate forecasts for multiple steps into the future.</a:t>
            </a: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marL="0" lvl="0" indent="0" algn="l">
              <a:lnSpc>
                <a:spcPts val="4395"/>
              </a:lnSpc>
              <a:spcBef>
                <a:spcPct val="0"/>
              </a:spcBef>
            </a:pPr>
            <a:endParaRPr lang="en-US" sz="2456" spc="147">
              <a:solidFill>
                <a:srgbClr val="000000"/>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43093" y="2458825"/>
            <a:ext cx="13351098" cy="10356291"/>
          </a:xfrm>
          <a:prstGeom prst="rect">
            <a:avLst/>
          </a:prstGeom>
        </p:spPr>
        <p:txBody>
          <a:bodyPr lIns="0" tIns="0" rIns="0" bIns="0" rtlCol="0" anchor="t">
            <a:spAutoFit/>
          </a:bodyPr>
          <a:lstStyle/>
          <a:p>
            <a:pPr marL="530298" lvl="1" indent="-265149" algn="l">
              <a:lnSpc>
                <a:spcPts val="3315"/>
              </a:lnSpc>
              <a:buFont typeface="Arial"/>
              <a:buChar char="•"/>
            </a:pPr>
            <a:r>
              <a:rPr lang="en-US" sz="2456" spc="147">
                <a:solidFill>
                  <a:srgbClr val="000000"/>
                </a:solidFill>
                <a:latin typeface="DM Sans"/>
                <a:ea typeface="DM Sans"/>
                <a:cs typeface="DM Sans"/>
                <a:sym typeface="DM Sans"/>
              </a:rPr>
              <a:t>Adam combines Momentum (for direction/smoothness) and RMSprop (for adaptive step size), making it fast and reliable.</a:t>
            </a:r>
          </a:p>
          <a:p>
            <a:pPr algn="l">
              <a:lnSpc>
                <a:spcPts val="3315"/>
              </a:lnSpc>
            </a:pPr>
            <a:endParaRPr lang="en-US" sz="2456" spc="147">
              <a:solidFill>
                <a:srgbClr val="000000"/>
              </a:solidFill>
              <a:latin typeface="DM Sans"/>
              <a:ea typeface="DM Sans"/>
              <a:cs typeface="DM Sans"/>
              <a:sym typeface="DM Sans"/>
            </a:endParaRPr>
          </a:p>
          <a:p>
            <a:pPr marL="530298" lvl="1" indent="-265149" algn="l">
              <a:lnSpc>
                <a:spcPts val="3315"/>
              </a:lnSpc>
              <a:buFont typeface="Arial"/>
              <a:buChar char="•"/>
            </a:pPr>
            <a:r>
              <a:rPr lang="en-US" sz="2456" spc="147">
                <a:solidFill>
                  <a:srgbClr val="000000"/>
                </a:solidFill>
                <a:latin typeface="DM Sans"/>
                <a:ea typeface="DM Sans"/>
                <a:cs typeface="DM Sans"/>
                <a:sym typeface="DM Sans"/>
              </a:rPr>
              <a:t>It converges faster and more reliably than standard SGD, works well with noisy or sparse data, and automatically adjusts learning rates for each parameter.</a:t>
            </a:r>
          </a:p>
          <a:p>
            <a:pPr algn="l">
              <a:lnSpc>
                <a:spcPts val="3315"/>
              </a:lnSpc>
            </a:pPr>
            <a:endParaRPr lang="en-US" sz="2456" spc="147">
              <a:solidFill>
                <a:srgbClr val="000000"/>
              </a:solidFill>
              <a:latin typeface="DM Sans"/>
              <a:ea typeface="DM Sans"/>
              <a:cs typeface="DM Sans"/>
              <a:sym typeface="DM Sans"/>
            </a:endParaRPr>
          </a:p>
          <a:p>
            <a:pPr marL="530298" lvl="1" indent="-265149" algn="l">
              <a:lnSpc>
                <a:spcPts val="3315"/>
              </a:lnSpc>
              <a:buFont typeface="Arial"/>
              <a:buChar char="•"/>
            </a:pPr>
            <a:r>
              <a:rPr lang="en-US" sz="2456" spc="147">
                <a:solidFill>
                  <a:srgbClr val="000000"/>
                </a:solidFill>
                <a:latin typeface="DM Sans"/>
                <a:ea typeface="DM Sans"/>
                <a:cs typeface="DM Sans"/>
                <a:sym typeface="DM Sans"/>
              </a:rPr>
              <a:t> Model Training: The optimizer corrects for initial numerical bias, ensuring accurate parameter updates from the very first epoch and promoting training stability.</a:t>
            </a:r>
          </a:p>
          <a:p>
            <a:pPr algn="l">
              <a:lnSpc>
                <a:spcPts val="3315"/>
              </a:lnSpc>
            </a:pPr>
            <a:endParaRPr lang="en-US" sz="2456" spc="147">
              <a:solidFill>
                <a:srgbClr val="000000"/>
              </a:solidFill>
              <a:latin typeface="DM Sans"/>
              <a:ea typeface="DM Sans"/>
              <a:cs typeface="DM Sans"/>
              <a:sym typeface="DM Sans"/>
            </a:endParaRPr>
          </a:p>
          <a:p>
            <a:pPr marL="595066" lvl="1" indent="-297533" algn="l">
              <a:lnSpc>
                <a:spcPts val="3720"/>
              </a:lnSpc>
              <a:buFont typeface="Arial"/>
              <a:buChar char="•"/>
            </a:pPr>
            <a:r>
              <a:rPr lang="en-US" sz="2756" spc="165">
                <a:solidFill>
                  <a:srgbClr val="000000"/>
                </a:solidFill>
                <a:latin typeface="DM Sans"/>
                <a:ea typeface="DM Sans"/>
                <a:cs typeface="DM Sans"/>
                <a:sym typeface="DM Sans"/>
              </a:rPr>
              <a:t>Steps:</a:t>
            </a:r>
          </a:p>
          <a:p>
            <a:pPr marL="487119" lvl="1" indent="-243559" algn="l">
              <a:lnSpc>
                <a:spcPts val="3045"/>
              </a:lnSpc>
              <a:buFont typeface="Arial"/>
              <a:buChar char="•"/>
            </a:pPr>
            <a:r>
              <a:rPr lang="en-US" sz="2256" spc="135">
                <a:solidFill>
                  <a:srgbClr val="000000"/>
                </a:solidFill>
                <a:latin typeface="DM Sans"/>
                <a:ea typeface="DM Sans"/>
                <a:cs typeface="DM Sans"/>
                <a:sym typeface="DM Sans"/>
              </a:rPr>
              <a:t>Calculates moving averages of gradients (1st moment) and squared gradients (2nd moment).</a:t>
            </a:r>
          </a:p>
          <a:p>
            <a:pPr marL="487119" lvl="1" indent="-243559" algn="l">
              <a:lnSpc>
                <a:spcPts val="3045"/>
              </a:lnSpc>
              <a:buFont typeface="Arial"/>
              <a:buChar char="•"/>
            </a:pPr>
            <a:r>
              <a:rPr lang="en-US" sz="2256" spc="135">
                <a:solidFill>
                  <a:srgbClr val="000000"/>
                </a:solidFill>
                <a:latin typeface="DM Sans"/>
                <a:ea typeface="DM Sans"/>
                <a:cs typeface="DM Sans"/>
                <a:sym typeface="DM Sans"/>
              </a:rPr>
              <a:t>Applies bias correction to make estimates accurate early on.</a:t>
            </a:r>
          </a:p>
          <a:p>
            <a:pPr marL="530298" lvl="1" indent="-265149" algn="l">
              <a:lnSpc>
                <a:spcPts val="3315"/>
              </a:lnSpc>
              <a:buFont typeface="Arial"/>
              <a:buChar char="•"/>
            </a:pPr>
            <a:r>
              <a:rPr lang="en-US" sz="2456" spc="147">
                <a:solidFill>
                  <a:srgbClr val="000000"/>
                </a:solidFill>
                <a:latin typeface="DM Sans"/>
                <a:ea typeface="DM Sans"/>
                <a:cs typeface="DM Sans"/>
                <a:sym typeface="DM Sans"/>
              </a:rPr>
              <a:t>Updates weights using a scaled step size:</a:t>
            </a:r>
          </a:p>
          <a:p>
            <a:pPr algn="l">
              <a:lnSpc>
                <a:spcPts val="3315"/>
              </a:lnSpc>
            </a:pPr>
            <a:endParaRPr lang="en-US" sz="2456" spc="147">
              <a:solidFill>
                <a:srgbClr val="000000"/>
              </a:solidFill>
              <a:latin typeface="DM Sans"/>
              <a:ea typeface="DM Sans"/>
              <a:cs typeface="DM Sans"/>
              <a:sym typeface="DM Sans"/>
            </a:endParaRPr>
          </a:p>
          <a:p>
            <a:pPr algn="l">
              <a:lnSpc>
                <a:spcPts val="331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algn="l">
              <a:lnSpc>
                <a:spcPts val="4395"/>
              </a:lnSpc>
            </a:pPr>
            <a:endParaRPr lang="en-US" sz="2456" spc="147">
              <a:solidFill>
                <a:srgbClr val="000000"/>
              </a:solidFill>
              <a:latin typeface="DM Sans"/>
              <a:ea typeface="DM Sans"/>
              <a:cs typeface="DM Sans"/>
              <a:sym typeface="DM Sans"/>
            </a:endParaRPr>
          </a:p>
          <a:p>
            <a:pPr marL="0" lvl="0" indent="0" algn="l">
              <a:lnSpc>
                <a:spcPts val="4395"/>
              </a:lnSpc>
              <a:spcBef>
                <a:spcPct val="0"/>
              </a:spcBef>
            </a:pPr>
            <a:endParaRPr lang="en-US" sz="2456" spc="147">
              <a:solidFill>
                <a:srgbClr val="000000"/>
              </a:solidFill>
              <a:latin typeface="DM Sans"/>
              <a:ea typeface="DM Sans"/>
              <a:cs typeface="DM Sans"/>
              <a:sym typeface="DM Sans"/>
            </a:endParaRPr>
          </a:p>
        </p:txBody>
      </p:sp>
      <p:sp>
        <p:nvSpPr>
          <p:cNvPr id="3" name="Freeform 3"/>
          <p:cNvSpPr/>
          <p:nvPr/>
        </p:nvSpPr>
        <p:spPr>
          <a:xfrm>
            <a:off x="11946856" y="7742257"/>
            <a:ext cx="3876738" cy="1516043"/>
          </a:xfrm>
          <a:custGeom>
            <a:avLst/>
            <a:gdLst/>
            <a:ahLst/>
            <a:cxnLst/>
            <a:rect l="l" t="t" r="r" b="b"/>
            <a:pathLst>
              <a:path w="3876738" h="1516043">
                <a:moveTo>
                  <a:pt x="0" y="0"/>
                </a:moveTo>
                <a:lnTo>
                  <a:pt x="3876737" y="0"/>
                </a:lnTo>
                <a:lnTo>
                  <a:pt x="3876737" y="1516043"/>
                </a:lnTo>
                <a:lnTo>
                  <a:pt x="0" y="1516043"/>
                </a:lnTo>
                <a:lnTo>
                  <a:pt x="0" y="0"/>
                </a:lnTo>
                <a:close/>
              </a:path>
            </a:pathLst>
          </a:custGeom>
          <a:blipFill>
            <a:blip r:embed="rId2"/>
            <a:stretch>
              <a:fillRect/>
            </a:stretch>
          </a:blipFill>
        </p:spPr>
      </p:sp>
      <p:sp>
        <p:nvSpPr>
          <p:cNvPr id="4" name="TextBox 4"/>
          <p:cNvSpPr txBox="1"/>
          <p:nvPr/>
        </p:nvSpPr>
        <p:spPr>
          <a:xfrm>
            <a:off x="1028700" y="1284921"/>
            <a:ext cx="8537476" cy="761793"/>
          </a:xfrm>
          <a:prstGeom prst="rect">
            <a:avLst/>
          </a:prstGeom>
        </p:spPr>
        <p:txBody>
          <a:bodyPr lIns="0" tIns="0" rIns="0" bIns="0" rtlCol="0" anchor="t">
            <a:spAutoFit/>
          </a:bodyPr>
          <a:lstStyle/>
          <a:p>
            <a:pPr algn="l">
              <a:lnSpc>
                <a:spcPts val="5669"/>
              </a:lnSpc>
            </a:pPr>
            <a:r>
              <a:rPr lang="en-US" sz="4972">
                <a:solidFill>
                  <a:srgbClr val="1C2120"/>
                </a:solidFill>
                <a:latin typeface="Poppins"/>
                <a:ea typeface="Poppins"/>
                <a:cs typeface="Poppins"/>
                <a:sym typeface="Poppins"/>
              </a:rPr>
              <a:t>Adam Optimizer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58865" y="2662732"/>
            <a:ext cx="6437409" cy="1081861"/>
          </a:xfrm>
          <a:prstGeom prst="rect">
            <a:avLst/>
          </a:prstGeom>
        </p:spPr>
        <p:txBody>
          <a:bodyPr lIns="0" tIns="0" rIns="0" bIns="0" rtlCol="0" anchor="t">
            <a:spAutoFit/>
          </a:bodyPr>
          <a:lstStyle/>
          <a:p>
            <a:pPr marL="0" lvl="1" indent="0" algn="l">
              <a:lnSpc>
                <a:spcPts val="7458"/>
              </a:lnSpc>
              <a:spcBef>
                <a:spcPct val="0"/>
              </a:spcBef>
            </a:pPr>
            <a:r>
              <a:rPr lang="en-US" sz="7689" b="1">
                <a:solidFill>
                  <a:srgbClr val="1C2120"/>
                </a:solidFill>
                <a:latin typeface="Poppins Bold"/>
                <a:ea typeface="Poppins Bold"/>
                <a:cs typeface="Poppins Bold"/>
                <a:sym typeface="Poppins Bold"/>
              </a:rPr>
              <a:t>Main.py</a:t>
            </a:r>
          </a:p>
        </p:txBody>
      </p:sp>
      <p:grpSp>
        <p:nvGrpSpPr>
          <p:cNvPr id="3" name="Group 3"/>
          <p:cNvGrpSpPr/>
          <p:nvPr/>
        </p:nvGrpSpPr>
        <p:grpSpPr>
          <a:xfrm>
            <a:off x="1258865" y="3968928"/>
            <a:ext cx="4026853" cy="606389"/>
            <a:chOff x="0" y="0"/>
            <a:chExt cx="1348022" cy="202994"/>
          </a:xfrm>
        </p:grpSpPr>
        <p:sp>
          <p:nvSpPr>
            <p:cNvPr id="4" name="Freeform 4"/>
            <p:cNvSpPr/>
            <p:nvPr/>
          </p:nvSpPr>
          <p:spPr>
            <a:xfrm>
              <a:off x="0" y="0"/>
              <a:ext cx="1348022" cy="202994"/>
            </a:xfrm>
            <a:custGeom>
              <a:avLst/>
              <a:gdLst/>
              <a:ahLst/>
              <a:cxnLst/>
              <a:rect l="l" t="t" r="r" b="b"/>
              <a:pathLst>
                <a:path w="1348022" h="202994">
                  <a:moveTo>
                    <a:pt x="96129" y="0"/>
                  </a:moveTo>
                  <a:lnTo>
                    <a:pt x="1251893" y="0"/>
                  </a:lnTo>
                  <a:cubicBezTo>
                    <a:pt x="1304984" y="0"/>
                    <a:pt x="1348022" y="43038"/>
                    <a:pt x="1348022" y="96129"/>
                  </a:cubicBezTo>
                  <a:lnTo>
                    <a:pt x="1348022" y="106865"/>
                  </a:lnTo>
                  <a:cubicBezTo>
                    <a:pt x="1348022" y="159955"/>
                    <a:pt x="1304984" y="202994"/>
                    <a:pt x="1251893" y="202994"/>
                  </a:cubicBezTo>
                  <a:lnTo>
                    <a:pt x="96129" y="202994"/>
                  </a:lnTo>
                  <a:cubicBezTo>
                    <a:pt x="43038" y="202994"/>
                    <a:pt x="0" y="159955"/>
                    <a:pt x="0" y="106865"/>
                  </a:cubicBezTo>
                  <a:lnTo>
                    <a:pt x="0" y="96129"/>
                  </a:lnTo>
                  <a:cubicBezTo>
                    <a:pt x="0" y="43038"/>
                    <a:pt x="43038" y="0"/>
                    <a:pt x="96129" y="0"/>
                  </a:cubicBezTo>
                  <a:close/>
                </a:path>
              </a:pathLst>
            </a:custGeom>
            <a:solidFill>
              <a:srgbClr val="AAD7D4"/>
            </a:solidFill>
          </p:spPr>
        </p:sp>
        <p:sp>
          <p:nvSpPr>
            <p:cNvPr id="5" name="TextBox 5"/>
            <p:cNvSpPr txBox="1"/>
            <p:nvPr/>
          </p:nvSpPr>
          <p:spPr>
            <a:xfrm>
              <a:off x="0" y="85725"/>
              <a:ext cx="1348022" cy="117269"/>
            </a:xfrm>
            <a:prstGeom prst="rect">
              <a:avLst/>
            </a:prstGeom>
          </p:spPr>
          <p:txBody>
            <a:bodyPr lIns="50800" tIns="50800" rIns="50800" bIns="50800" rtlCol="0" anchor="ctr"/>
            <a:lstStyle/>
            <a:p>
              <a:pPr algn="ctr">
                <a:lnSpc>
                  <a:spcPts val="1925"/>
                </a:lnSpc>
              </a:pPr>
              <a:endParaRPr/>
            </a:p>
          </p:txBody>
        </p:sp>
      </p:grpSp>
      <p:sp>
        <p:nvSpPr>
          <p:cNvPr id="6" name="TextBox 6"/>
          <p:cNvSpPr txBox="1"/>
          <p:nvPr/>
        </p:nvSpPr>
        <p:spPr>
          <a:xfrm>
            <a:off x="1258865" y="4945151"/>
            <a:ext cx="6914101" cy="2390433"/>
          </a:xfrm>
          <a:prstGeom prst="rect">
            <a:avLst/>
          </a:prstGeom>
        </p:spPr>
        <p:txBody>
          <a:bodyPr lIns="0" tIns="0" rIns="0" bIns="0" rtlCol="0" anchor="t">
            <a:spAutoFit/>
          </a:bodyPr>
          <a:lstStyle/>
          <a:p>
            <a:pPr marL="0" lvl="0" indent="0" algn="l">
              <a:lnSpc>
                <a:spcPts val="2724"/>
              </a:lnSpc>
              <a:spcBef>
                <a:spcPct val="0"/>
              </a:spcBef>
            </a:pPr>
            <a:r>
              <a:rPr lang="en-US" sz="2017" spc="121">
                <a:solidFill>
                  <a:srgbClr val="000000"/>
                </a:solidFill>
                <a:latin typeface="DM Sans"/>
                <a:ea typeface="DM Sans"/>
                <a:cs typeface="DM Sans"/>
                <a:sym typeface="DM Sans"/>
              </a:rPr>
              <a:t>This</a:t>
            </a:r>
            <a:r>
              <a:rPr lang="en-US" sz="2017" u="none" spc="121">
                <a:solidFill>
                  <a:srgbClr val="000000"/>
                </a:solidFill>
                <a:latin typeface="DM Sans"/>
                <a:ea typeface="DM Sans"/>
                <a:cs typeface="DM Sans"/>
                <a:sym typeface="DM Sans"/>
              </a:rPr>
              <a:t> module, main.py, acts as the central hub, bringing all components together. It orchestrates the training of both LSTM models for all vehicles and generates predictions using the previous instances. It then combines the rounded outputs from both prediction modules into a single, comprehensive dataset.</a:t>
            </a:r>
          </a:p>
        </p:txBody>
      </p:sp>
      <p:grpSp>
        <p:nvGrpSpPr>
          <p:cNvPr id="7" name="Group 7"/>
          <p:cNvGrpSpPr/>
          <p:nvPr/>
        </p:nvGrpSpPr>
        <p:grpSpPr>
          <a:xfrm>
            <a:off x="10175402" y="922089"/>
            <a:ext cx="6830714" cy="2128485"/>
            <a:chOff x="0" y="0"/>
            <a:chExt cx="2286638" cy="712528"/>
          </a:xfrm>
        </p:grpSpPr>
        <p:sp>
          <p:nvSpPr>
            <p:cNvPr id="8" name="Freeform 8"/>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9" name="TextBox 9"/>
            <p:cNvSpPr txBox="1"/>
            <p:nvPr/>
          </p:nvSpPr>
          <p:spPr>
            <a:xfrm>
              <a:off x="0" y="85725"/>
              <a:ext cx="2286638" cy="626803"/>
            </a:xfrm>
            <a:prstGeom prst="rect">
              <a:avLst/>
            </a:prstGeom>
          </p:spPr>
          <p:txBody>
            <a:bodyPr lIns="50800" tIns="50800" rIns="50800" bIns="50800" rtlCol="0" anchor="ctr"/>
            <a:lstStyle/>
            <a:p>
              <a:pPr algn="ctr">
                <a:lnSpc>
                  <a:spcPts val="1925"/>
                </a:lnSpc>
              </a:pPr>
              <a:endParaRPr/>
            </a:p>
          </p:txBody>
        </p:sp>
      </p:grpSp>
      <p:sp>
        <p:nvSpPr>
          <p:cNvPr id="10" name="Freeform 10"/>
          <p:cNvSpPr/>
          <p:nvPr/>
        </p:nvSpPr>
        <p:spPr>
          <a:xfrm>
            <a:off x="10770217" y="1566565"/>
            <a:ext cx="1023822" cy="839534"/>
          </a:xfrm>
          <a:custGeom>
            <a:avLst/>
            <a:gdLst/>
            <a:ahLst/>
            <a:cxnLst/>
            <a:rect l="l" t="t" r="r" b="b"/>
            <a:pathLst>
              <a:path w="1023822" h="839534">
                <a:moveTo>
                  <a:pt x="0" y="0"/>
                </a:moveTo>
                <a:lnTo>
                  <a:pt x="1023822" y="0"/>
                </a:lnTo>
                <a:lnTo>
                  <a:pt x="1023822" y="839534"/>
                </a:lnTo>
                <a:lnTo>
                  <a:pt x="0" y="839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10175402" y="3294891"/>
            <a:ext cx="6830714" cy="3347859"/>
            <a:chOff x="0" y="0"/>
            <a:chExt cx="2286638" cy="1120723"/>
          </a:xfrm>
        </p:grpSpPr>
        <p:sp>
          <p:nvSpPr>
            <p:cNvPr id="12" name="Freeform 12"/>
            <p:cNvSpPr/>
            <p:nvPr/>
          </p:nvSpPr>
          <p:spPr>
            <a:xfrm>
              <a:off x="0" y="0"/>
              <a:ext cx="2286638" cy="1120723"/>
            </a:xfrm>
            <a:custGeom>
              <a:avLst/>
              <a:gdLst/>
              <a:ahLst/>
              <a:cxnLst/>
              <a:rect l="l" t="t" r="r" b="b"/>
              <a:pathLst>
                <a:path w="2286638" h="1120723">
                  <a:moveTo>
                    <a:pt x="56670" y="0"/>
                  </a:moveTo>
                  <a:lnTo>
                    <a:pt x="2229968" y="0"/>
                  </a:lnTo>
                  <a:cubicBezTo>
                    <a:pt x="2261266" y="0"/>
                    <a:pt x="2286638" y="25372"/>
                    <a:pt x="2286638" y="56670"/>
                  </a:cubicBezTo>
                  <a:lnTo>
                    <a:pt x="2286638" y="1064053"/>
                  </a:lnTo>
                  <a:cubicBezTo>
                    <a:pt x="2286638" y="1079083"/>
                    <a:pt x="2280667" y="1093497"/>
                    <a:pt x="2270040" y="1104125"/>
                  </a:cubicBezTo>
                  <a:cubicBezTo>
                    <a:pt x="2259412" y="1114753"/>
                    <a:pt x="2244998" y="1120723"/>
                    <a:pt x="2229968" y="1120723"/>
                  </a:cubicBezTo>
                  <a:lnTo>
                    <a:pt x="56670" y="1120723"/>
                  </a:lnTo>
                  <a:cubicBezTo>
                    <a:pt x="41640" y="1120723"/>
                    <a:pt x="27226" y="1114753"/>
                    <a:pt x="16598" y="1104125"/>
                  </a:cubicBezTo>
                  <a:cubicBezTo>
                    <a:pt x="5971" y="1093497"/>
                    <a:pt x="0" y="1079083"/>
                    <a:pt x="0" y="1064053"/>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3" name="TextBox 13"/>
            <p:cNvSpPr txBox="1"/>
            <p:nvPr/>
          </p:nvSpPr>
          <p:spPr>
            <a:xfrm>
              <a:off x="0" y="85725"/>
              <a:ext cx="2286638" cy="1034998"/>
            </a:xfrm>
            <a:prstGeom prst="rect">
              <a:avLst/>
            </a:prstGeom>
          </p:spPr>
          <p:txBody>
            <a:bodyPr lIns="50800" tIns="50800" rIns="50800" bIns="50800" rtlCol="0" anchor="ctr"/>
            <a:lstStyle/>
            <a:p>
              <a:pPr algn="ctr">
                <a:lnSpc>
                  <a:spcPts val="1925"/>
                </a:lnSpc>
              </a:pPr>
              <a:endParaRPr/>
            </a:p>
          </p:txBody>
        </p:sp>
      </p:grpSp>
      <p:grpSp>
        <p:nvGrpSpPr>
          <p:cNvPr id="14" name="Group 14"/>
          <p:cNvGrpSpPr/>
          <p:nvPr/>
        </p:nvGrpSpPr>
        <p:grpSpPr>
          <a:xfrm>
            <a:off x="10175402" y="6879664"/>
            <a:ext cx="6830714" cy="2128485"/>
            <a:chOff x="0" y="0"/>
            <a:chExt cx="2286638" cy="712528"/>
          </a:xfrm>
        </p:grpSpPr>
        <p:sp>
          <p:nvSpPr>
            <p:cNvPr id="15" name="Freeform 15"/>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6" name="TextBox 16"/>
            <p:cNvSpPr txBox="1"/>
            <p:nvPr/>
          </p:nvSpPr>
          <p:spPr>
            <a:xfrm>
              <a:off x="0" y="85725"/>
              <a:ext cx="2286638" cy="626803"/>
            </a:xfrm>
            <a:prstGeom prst="rect">
              <a:avLst/>
            </a:prstGeom>
          </p:spPr>
          <p:txBody>
            <a:bodyPr lIns="50800" tIns="50800" rIns="50800" bIns="50800" rtlCol="0" anchor="ctr"/>
            <a:lstStyle/>
            <a:p>
              <a:pPr algn="ctr">
                <a:lnSpc>
                  <a:spcPts val="1925"/>
                </a:lnSpc>
              </a:pPr>
              <a:endParaRPr/>
            </a:p>
          </p:txBody>
        </p:sp>
      </p:grpSp>
      <p:sp>
        <p:nvSpPr>
          <p:cNvPr id="17" name="Freeform 17"/>
          <p:cNvSpPr/>
          <p:nvPr/>
        </p:nvSpPr>
        <p:spPr>
          <a:xfrm>
            <a:off x="10770217" y="4205919"/>
            <a:ext cx="1031674" cy="1252584"/>
          </a:xfrm>
          <a:custGeom>
            <a:avLst/>
            <a:gdLst/>
            <a:ahLst/>
            <a:cxnLst/>
            <a:rect l="l" t="t" r="r" b="b"/>
            <a:pathLst>
              <a:path w="1031674" h="1252584">
                <a:moveTo>
                  <a:pt x="0" y="0"/>
                </a:moveTo>
                <a:lnTo>
                  <a:pt x="1031674" y="0"/>
                </a:lnTo>
                <a:lnTo>
                  <a:pt x="1031674" y="1252584"/>
                </a:lnTo>
                <a:lnTo>
                  <a:pt x="0" y="12525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0589543" y="7442092"/>
            <a:ext cx="1400875" cy="924578"/>
          </a:xfrm>
          <a:custGeom>
            <a:avLst/>
            <a:gdLst/>
            <a:ahLst/>
            <a:cxnLst/>
            <a:rect l="l" t="t" r="r" b="b"/>
            <a:pathLst>
              <a:path w="1400875" h="924578">
                <a:moveTo>
                  <a:pt x="0" y="0"/>
                </a:moveTo>
                <a:lnTo>
                  <a:pt x="1400875" y="0"/>
                </a:lnTo>
                <a:lnTo>
                  <a:pt x="1400875" y="924577"/>
                </a:lnTo>
                <a:lnTo>
                  <a:pt x="0" y="9245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TextBox 19"/>
          <p:cNvSpPr txBox="1"/>
          <p:nvPr/>
        </p:nvSpPr>
        <p:spPr>
          <a:xfrm>
            <a:off x="12667729" y="1166340"/>
            <a:ext cx="3556933" cy="1611409"/>
          </a:xfrm>
          <a:prstGeom prst="rect">
            <a:avLst/>
          </a:prstGeom>
        </p:spPr>
        <p:txBody>
          <a:bodyPr lIns="0" tIns="0" rIns="0" bIns="0" rtlCol="0" anchor="t">
            <a:spAutoFit/>
          </a:bodyPr>
          <a:lstStyle/>
          <a:p>
            <a:pPr marL="0" lvl="0" indent="0" algn="just">
              <a:lnSpc>
                <a:spcPts val="2580"/>
              </a:lnSpc>
              <a:spcBef>
                <a:spcPct val="0"/>
              </a:spcBef>
            </a:pPr>
            <a:r>
              <a:rPr lang="en-US" sz="1911" b="1" spc="30">
                <a:solidFill>
                  <a:srgbClr val="1C2120"/>
                </a:solidFill>
                <a:latin typeface="DM Sans Bold"/>
                <a:ea typeface="DM Sans Bold"/>
                <a:cs typeface="DM Sans Bold"/>
                <a:sym typeface="DM Sans Bold"/>
              </a:rPr>
              <a:t>Data Handling: </a:t>
            </a:r>
            <a:r>
              <a:rPr lang="en-US" sz="1911" spc="30">
                <a:solidFill>
                  <a:srgbClr val="1C2120"/>
                </a:solidFill>
                <a:latin typeface="DM Sans"/>
                <a:ea typeface="DM Sans"/>
                <a:cs typeface="DM Sans"/>
                <a:sym typeface="DM Sans"/>
              </a:rPr>
              <a:t>It loads existing data from a CSV file and allows users to add new vehicle data via a command-line prompt.</a:t>
            </a:r>
          </a:p>
        </p:txBody>
      </p:sp>
      <p:sp>
        <p:nvSpPr>
          <p:cNvPr id="20" name="TextBox 20"/>
          <p:cNvSpPr txBox="1"/>
          <p:nvPr/>
        </p:nvSpPr>
        <p:spPr>
          <a:xfrm>
            <a:off x="12557571" y="3345118"/>
            <a:ext cx="3854108" cy="3220951"/>
          </a:xfrm>
          <a:prstGeom prst="rect">
            <a:avLst/>
          </a:prstGeom>
        </p:spPr>
        <p:txBody>
          <a:bodyPr lIns="0" tIns="0" rIns="0" bIns="0" rtlCol="0" anchor="t">
            <a:spAutoFit/>
          </a:bodyPr>
          <a:lstStyle/>
          <a:p>
            <a:pPr marL="0" lvl="0" indent="0" algn="just">
              <a:lnSpc>
                <a:spcPts val="2593"/>
              </a:lnSpc>
              <a:spcBef>
                <a:spcPct val="0"/>
              </a:spcBef>
            </a:pPr>
            <a:r>
              <a:rPr lang="en-US" sz="1921" b="1" spc="30">
                <a:solidFill>
                  <a:srgbClr val="1C2120"/>
                </a:solidFill>
                <a:latin typeface="DM Sans Bold"/>
                <a:ea typeface="DM Sans Bold"/>
                <a:cs typeface="DM Sans Bold"/>
                <a:sym typeface="DM Sans Bold"/>
              </a:rPr>
              <a:t>Evaluation metrics</a:t>
            </a:r>
            <a:r>
              <a:rPr lang="en-US" sz="1921" b="1" u="none" spc="30">
                <a:solidFill>
                  <a:srgbClr val="1C2120"/>
                </a:solidFill>
                <a:latin typeface="DM Sans Bold"/>
                <a:ea typeface="DM Sans Bold"/>
                <a:cs typeface="DM Sans Bold"/>
                <a:sym typeface="DM Sans Bold"/>
              </a:rPr>
              <a:t>: </a:t>
            </a:r>
          </a:p>
          <a:p>
            <a:pPr marL="0" lvl="0" indent="0" algn="just">
              <a:lnSpc>
                <a:spcPts val="2593"/>
              </a:lnSpc>
              <a:spcBef>
                <a:spcPct val="0"/>
              </a:spcBef>
            </a:pPr>
            <a:r>
              <a:rPr lang="en-US" sz="1921" b="1" u="none" spc="30">
                <a:solidFill>
                  <a:srgbClr val="1C2120"/>
                </a:solidFill>
                <a:latin typeface="DM Sans Bold"/>
                <a:ea typeface="DM Sans Bold"/>
                <a:cs typeface="DM Sans Bold"/>
                <a:sym typeface="DM Sans Bold"/>
              </a:rPr>
              <a:t>1.Accuracy: </a:t>
            </a:r>
            <a:r>
              <a:rPr lang="en-US" sz="1921" u="none" spc="30">
                <a:solidFill>
                  <a:srgbClr val="1C2120"/>
                </a:solidFill>
                <a:latin typeface="DM Sans"/>
                <a:ea typeface="DM Sans"/>
                <a:cs typeface="DM Sans"/>
                <a:sym typeface="DM Sans"/>
              </a:rPr>
              <a:t>Percentage change in predicted data and actual data</a:t>
            </a:r>
          </a:p>
          <a:p>
            <a:pPr marL="0" lvl="0" indent="0" algn="just">
              <a:lnSpc>
                <a:spcPts val="2593"/>
              </a:lnSpc>
              <a:spcBef>
                <a:spcPct val="0"/>
              </a:spcBef>
            </a:pPr>
            <a:r>
              <a:rPr lang="en-US" sz="1921" b="1" u="none" spc="30">
                <a:solidFill>
                  <a:srgbClr val="1C2120"/>
                </a:solidFill>
                <a:latin typeface="DM Sans Bold"/>
                <a:ea typeface="DM Sans Bold"/>
                <a:cs typeface="DM Sans Bold"/>
                <a:sym typeface="DM Sans Bold"/>
              </a:rPr>
              <a:t>2.Mean Absolute Error (MAE): </a:t>
            </a:r>
            <a:r>
              <a:rPr lang="en-US" sz="1921" u="none" spc="30">
                <a:solidFill>
                  <a:srgbClr val="1C2120"/>
                </a:solidFill>
                <a:latin typeface="DM Sans"/>
                <a:ea typeface="DM Sans"/>
                <a:cs typeface="DM Sans"/>
                <a:sym typeface="DM Sans"/>
              </a:rPr>
              <a:t>Average of absolute errors</a:t>
            </a:r>
          </a:p>
          <a:p>
            <a:pPr marL="0" lvl="0" indent="0" algn="just">
              <a:lnSpc>
                <a:spcPts val="2593"/>
              </a:lnSpc>
              <a:spcBef>
                <a:spcPct val="0"/>
              </a:spcBef>
            </a:pPr>
            <a:r>
              <a:rPr lang="en-US" sz="1921" b="1" u="none" spc="30">
                <a:solidFill>
                  <a:srgbClr val="1C2120"/>
                </a:solidFill>
                <a:latin typeface="DM Sans Bold"/>
                <a:ea typeface="DM Sans Bold"/>
                <a:cs typeface="DM Sans Bold"/>
                <a:sym typeface="DM Sans Bold"/>
              </a:rPr>
              <a:t>3.Mean Square Error (MSE):</a:t>
            </a:r>
            <a:r>
              <a:rPr lang="en-US" sz="1921" u="none" spc="30">
                <a:solidFill>
                  <a:srgbClr val="1C2120"/>
                </a:solidFill>
                <a:latin typeface="DM Sans"/>
                <a:ea typeface="DM Sans"/>
                <a:cs typeface="DM Sans"/>
                <a:sym typeface="DM Sans"/>
              </a:rPr>
              <a:t> Average of squared prediction errors</a:t>
            </a:r>
          </a:p>
          <a:p>
            <a:pPr algn="just">
              <a:lnSpc>
                <a:spcPts val="2593"/>
              </a:lnSpc>
              <a:spcBef>
                <a:spcPct val="0"/>
              </a:spcBef>
            </a:pPr>
            <a:r>
              <a:rPr lang="en-US" sz="1921" b="1" u="none" spc="30">
                <a:solidFill>
                  <a:srgbClr val="1C2120"/>
                </a:solidFill>
                <a:latin typeface="DM Sans Bold"/>
                <a:ea typeface="DM Sans Bold"/>
                <a:cs typeface="DM Sans Bold"/>
                <a:sym typeface="DM Sans Bold"/>
              </a:rPr>
              <a:t>4. RMS: </a:t>
            </a:r>
            <a:r>
              <a:rPr lang="en-US" sz="1921" u="none" spc="30">
                <a:solidFill>
                  <a:srgbClr val="1C2120"/>
                </a:solidFill>
                <a:latin typeface="DM Sans"/>
                <a:ea typeface="DM Sans"/>
                <a:cs typeface="DM Sans"/>
                <a:sym typeface="DM Sans"/>
              </a:rPr>
              <a:t>Square root of MSE</a:t>
            </a:r>
          </a:p>
        </p:txBody>
      </p:sp>
      <p:sp>
        <p:nvSpPr>
          <p:cNvPr id="21" name="TextBox 21"/>
          <p:cNvSpPr txBox="1"/>
          <p:nvPr/>
        </p:nvSpPr>
        <p:spPr>
          <a:xfrm>
            <a:off x="12706158" y="7127314"/>
            <a:ext cx="3556933" cy="1611409"/>
          </a:xfrm>
          <a:prstGeom prst="rect">
            <a:avLst/>
          </a:prstGeom>
        </p:spPr>
        <p:txBody>
          <a:bodyPr lIns="0" tIns="0" rIns="0" bIns="0" rtlCol="0" anchor="t">
            <a:spAutoFit/>
          </a:bodyPr>
          <a:lstStyle/>
          <a:p>
            <a:pPr marL="0" lvl="0" indent="0" algn="just">
              <a:lnSpc>
                <a:spcPts val="2580"/>
              </a:lnSpc>
              <a:spcBef>
                <a:spcPct val="0"/>
              </a:spcBef>
            </a:pPr>
            <a:r>
              <a:rPr lang="en-US" sz="1911" b="1" spc="30">
                <a:solidFill>
                  <a:srgbClr val="1C2120"/>
                </a:solidFill>
                <a:latin typeface="DM Sans Bold"/>
                <a:ea typeface="DM Sans Bold"/>
                <a:cs typeface="DM Sans Bold"/>
                <a:sym typeface="DM Sans Bold"/>
              </a:rPr>
              <a:t>Out</a:t>
            </a:r>
            <a:r>
              <a:rPr lang="en-US" sz="1911" b="1" u="none" spc="30">
                <a:solidFill>
                  <a:srgbClr val="1C2120"/>
                </a:solidFill>
                <a:latin typeface="DM Sans Bold"/>
                <a:ea typeface="DM Sans Bold"/>
                <a:cs typeface="DM Sans Bold"/>
                <a:sym typeface="DM Sans Bold"/>
              </a:rPr>
              <a:t>put</a:t>
            </a:r>
            <a:r>
              <a:rPr lang="en-US" sz="1911" u="none" spc="30">
                <a:solidFill>
                  <a:srgbClr val="1C2120"/>
                </a:solidFill>
                <a:latin typeface="DM Sans"/>
                <a:ea typeface="DM Sans"/>
                <a:cs typeface="DM Sans"/>
                <a:sym typeface="DM Sans"/>
              </a:rPr>
              <a:t>: The module appends all historical and newly predicted data to the original CSV file, creating a continuous record of vehicle movements.</a:t>
            </a:r>
          </a:p>
        </p:txBody>
      </p:sp>
      <p:sp>
        <p:nvSpPr>
          <p:cNvPr id="22" name="AutoShape 22"/>
          <p:cNvSpPr/>
          <p:nvPr/>
        </p:nvSpPr>
        <p:spPr>
          <a:xfrm flipV="1">
            <a:off x="12229579" y="1194915"/>
            <a:ext cx="0" cy="1582834"/>
          </a:xfrm>
          <a:prstGeom prst="line">
            <a:avLst/>
          </a:prstGeom>
          <a:ln w="38100" cap="flat">
            <a:solidFill>
              <a:srgbClr val="000000"/>
            </a:solidFill>
            <a:prstDash val="solid"/>
            <a:headEnd type="none" w="sm" len="sm"/>
            <a:tailEnd type="none" w="sm" len="sm"/>
          </a:ln>
        </p:spPr>
      </p:sp>
      <p:sp>
        <p:nvSpPr>
          <p:cNvPr id="23" name="AutoShape 23"/>
          <p:cNvSpPr/>
          <p:nvPr/>
        </p:nvSpPr>
        <p:spPr>
          <a:xfrm flipV="1">
            <a:off x="12229579" y="3744593"/>
            <a:ext cx="0" cy="2410062"/>
          </a:xfrm>
          <a:prstGeom prst="line">
            <a:avLst/>
          </a:prstGeom>
          <a:ln w="38100" cap="flat">
            <a:solidFill>
              <a:srgbClr val="000000"/>
            </a:solidFill>
            <a:prstDash val="solid"/>
            <a:headEnd type="none" w="sm" len="sm"/>
            <a:tailEnd type="none" w="sm" len="sm"/>
          </a:ln>
        </p:spPr>
      </p:sp>
      <p:sp>
        <p:nvSpPr>
          <p:cNvPr id="24" name="AutoShape 24"/>
          <p:cNvSpPr/>
          <p:nvPr/>
        </p:nvSpPr>
        <p:spPr>
          <a:xfrm flipV="1">
            <a:off x="12229579" y="7155889"/>
            <a:ext cx="0" cy="1582834"/>
          </a:xfrm>
          <a:prstGeom prst="line">
            <a:avLst/>
          </a:prstGeom>
          <a:ln w="38100" cap="flat">
            <a:solidFill>
              <a:srgbClr val="000000"/>
            </a:solidFill>
            <a:prstDash val="solid"/>
            <a:headEnd type="none" w="sm" len="sm"/>
            <a:tailEnd type="none" w="sm" len="sm"/>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525" y="435020"/>
            <a:ext cx="10610140" cy="1460495"/>
          </a:xfrm>
          <a:prstGeom prst="rect">
            <a:avLst/>
          </a:prstGeom>
        </p:spPr>
        <p:txBody>
          <a:bodyPr lIns="0" tIns="0" rIns="0" bIns="0" rtlCol="0" anchor="t">
            <a:spAutoFit/>
          </a:bodyPr>
          <a:lstStyle/>
          <a:p>
            <a:pPr algn="ctr">
              <a:lnSpc>
                <a:spcPts val="11900"/>
              </a:lnSpc>
            </a:pPr>
            <a:r>
              <a:rPr lang="en-US" sz="8500" b="1">
                <a:solidFill>
                  <a:srgbClr val="000000"/>
                </a:solidFill>
                <a:latin typeface="Canva Sans Bold"/>
                <a:ea typeface="Canva Sans Bold"/>
                <a:cs typeface="Canva Sans Bold"/>
                <a:sym typeface="Canva Sans Bold"/>
              </a:rPr>
              <a:t>Simulation Result</a:t>
            </a:r>
          </a:p>
        </p:txBody>
      </p:sp>
      <p:sp>
        <p:nvSpPr>
          <p:cNvPr id="4" name="Rectangle 1">
            <a:extLst>
              <a:ext uri="{FF2B5EF4-FFF2-40B4-BE49-F238E27FC236}">
                <a16:creationId xmlns:a16="http://schemas.microsoft.com/office/drawing/2014/main" id="{D9C507B6-F00C-5EBE-67E6-43879EE9BB0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2">
            <a:extLst>
              <a:ext uri="{FF2B5EF4-FFF2-40B4-BE49-F238E27FC236}">
                <a16:creationId xmlns:a16="http://schemas.microsoft.com/office/drawing/2014/main" id="{A0469833-DC4B-580D-37E2-979786A9C407}"/>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3">
            <a:extLst>
              <a:ext uri="{FF2B5EF4-FFF2-40B4-BE49-F238E27FC236}">
                <a16:creationId xmlns:a16="http://schemas.microsoft.com/office/drawing/2014/main" id="{3C6D1886-0E52-19C5-8C7D-E573A86D9462}"/>
              </a:ext>
            </a:extLst>
          </p:cNvPr>
          <p:cNvSpPr>
            <a:spLocks noChangeArrowheads="1"/>
          </p:cNvSpPr>
          <p:nvPr/>
        </p:nvSpPr>
        <p:spPr bwMode="auto">
          <a:xfrm>
            <a:off x="304800" y="3048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4">
            <a:extLst>
              <a:ext uri="{FF2B5EF4-FFF2-40B4-BE49-F238E27FC236}">
                <a16:creationId xmlns:a16="http://schemas.microsoft.com/office/drawing/2014/main" id="{BAEC81A5-4245-11E0-95EF-F049CA9E95F8}"/>
              </a:ext>
            </a:extLst>
          </p:cNvPr>
          <p:cNvSpPr>
            <a:spLocks noChangeArrowheads="1"/>
          </p:cNvSpPr>
          <p:nvPr/>
        </p:nvSpPr>
        <p:spPr bwMode="auto">
          <a:xfrm>
            <a:off x="457200" y="4572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9" name="Picture 8">
            <a:extLst>
              <a:ext uri="{FF2B5EF4-FFF2-40B4-BE49-F238E27FC236}">
                <a16:creationId xmlns:a16="http://schemas.microsoft.com/office/drawing/2014/main" id="{302EE564-56BA-E6B7-2360-F4A307E15717}"/>
              </a:ext>
            </a:extLst>
          </p:cNvPr>
          <p:cNvPicPr>
            <a:picLocks noChangeAspect="1"/>
          </p:cNvPicPr>
          <p:nvPr/>
        </p:nvPicPr>
        <p:blipFill>
          <a:blip r:embed="rId2"/>
          <a:stretch>
            <a:fillRect/>
          </a:stretch>
        </p:blipFill>
        <p:spPr>
          <a:xfrm>
            <a:off x="777455" y="2178134"/>
            <a:ext cx="16733090" cy="708016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1274" y="2677160"/>
            <a:ext cx="18046726" cy="6581140"/>
          </a:xfrm>
          <a:prstGeom prst="rect">
            <a:avLst/>
          </a:prstGeom>
        </p:spPr>
        <p:txBody>
          <a:bodyPr lIns="0" tIns="0" rIns="0" bIns="0" rtlCol="0" anchor="t">
            <a:spAutoFit/>
          </a:bodyPr>
          <a:lstStyle/>
          <a:p>
            <a:pPr algn="l">
              <a:lnSpc>
                <a:spcPts val="4759"/>
              </a:lnSpc>
            </a:pPr>
            <a:r>
              <a:rPr lang="en-US" sz="3399">
                <a:solidFill>
                  <a:srgbClr val="000000"/>
                </a:solidFill>
                <a:latin typeface="Canva Sans"/>
                <a:ea typeface="Canva Sans"/>
                <a:cs typeface="Canva Sans"/>
                <a:sym typeface="Canva Sans"/>
              </a:rPr>
              <a:t>Metrics:</a:t>
            </a: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Task Completion Rate – Percentage of tasks executed within deadlines.</a:t>
            </a: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Latency – Time between task assignment and completion.</a:t>
            </a: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CPU Utilization – CPU usage across vehicles during simulation.</a:t>
            </a:r>
          </a:p>
          <a:p>
            <a:pPr algn="l">
              <a:lnSpc>
                <a:spcPts val="4759"/>
              </a:lnSpc>
            </a:pPr>
            <a:endParaRPr lang="en-US" sz="3399">
              <a:solidFill>
                <a:srgbClr val="000000"/>
              </a:solidFill>
              <a:latin typeface="Canva Sans"/>
              <a:ea typeface="Canva Sans"/>
              <a:cs typeface="Canva Sans"/>
              <a:sym typeface="Canva Sans"/>
            </a:endParaRPr>
          </a:p>
          <a:p>
            <a:pPr algn="l">
              <a:lnSpc>
                <a:spcPts val="4759"/>
              </a:lnSpc>
            </a:pPr>
            <a:r>
              <a:rPr lang="en-US" sz="3399">
                <a:solidFill>
                  <a:srgbClr val="000000"/>
                </a:solidFill>
                <a:latin typeface="Canva Sans"/>
                <a:ea typeface="Canva Sans"/>
                <a:cs typeface="Canva Sans"/>
                <a:sym typeface="Canva Sans"/>
              </a:rPr>
              <a:t>Significance:</a:t>
            </a: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Higher task completion rates indicate better scheduling and prediction accuracy.</a:t>
            </a: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Lower latency shows the system’s responsiveness under dynamic conditions.</a:t>
            </a:r>
          </a:p>
          <a:p>
            <a:pPr marL="734059" lvl="1" indent="-367030" algn="l">
              <a:lnSpc>
                <a:spcPts val="4759"/>
              </a:lnSpc>
              <a:buFont typeface="Arial"/>
              <a:buChar char="•"/>
            </a:pPr>
            <a:r>
              <a:rPr lang="en-US" sz="3399">
                <a:solidFill>
                  <a:srgbClr val="000000"/>
                </a:solidFill>
                <a:latin typeface="Canva Sans"/>
                <a:ea typeface="Canva Sans"/>
                <a:cs typeface="Canva Sans"/>
                <a:sym typeface="Canva Sans"/>
              </a:rPr>
              <a:t>Balanced resource utilization ensures no vehicle is overloaded while others remain idle, improving system reliability.</a:t>
            </a:r>
          </a:p>
          <a:p>
            <a:pPr algn="l">
              <a:lnSpc>
                <a:spcPts val="4759"/>
              </a:lnSpc>
            </a:pPr>
            <a:endParaRPr lang="en-US" sz="3399">
              <a:solidFill>
                <a:srgbClr val="000000"/>
              </a:solidFill>
              <a:latin typeface="Canva Sans"/>
              <a:ea typeface="Canva Sans"/>
              <a:cs typeface="Canva Sans"/>
              <a:sym typeface="Canva Sans"/>
            </a:endParaRPr>
          </a:p>
        </p:txBody>
      </p:sp>
      <p:sp>
        <p:nvSpPr>
          <p:cNvPr id="3" name="TextBox 3"/>
          <p:cNvSpPr txBox="1"/>
          <p:nvPr/>
        </p:nvSpPr>
        <p:spPr>
          <a:xfrm>
            <a:off x="0" y="-133350"/>
            <a:ext cx="18046726" cy="2503158"/>
          </a:xfrm>
          <a:prstGeom prst="rect">
            <a:avLst/>
          </a:prstGeom>
        </p:spPr>
        <p:txBody>
          <a:bodyPr lIns="0" tIns="0" rIns="0" bIns="0" rtlCol="0" anchor="t">
            <a:spAutoFit/>
          </a:bodyPr>
          <a:lstStyle/>
          <a:p>
            <a:pPr algn="ctr">
              <a:lnSpc>
                <a:spcPts val="10080"/>
              </a:lnSpc>
            </a:pPr>
            <a:r>
              <a:rPr lang="en-US" sz="7200" b="1">
                <a:solidFill>
                  <a:srgbClr val="000000"/>
                </a:solidFill>
                <a:latin typeface="Canva Sans Bold"/>
                <a:ea typeface="Canva Sans Bold"/>
                <a:cs typeface="Canva Sans Bold"/>
                <a:sym typeface="Canva Sans Bold"/>
              </a:rPr>
              <a:t>METRICS AND SIGNIFICANCE OF RESULT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AAD7D4"/>
        </a:solidFill>
        <a:effectLst/>
      </p:bgPr>
    </p:bg>
    <p:spTree>
      <p:nvGrpSpPr>
        <p:cNvPr id="1" name=""/>
        <p:cNvGrpSpPr/>
        <p:nvPr/>
      </p:nvGrpSpPr>
      <p:grpSpPr>
        <a:xfrm>
          <a:off x="0" y="0"/>
          <a:ext cx="0" cy="0"/>
          <a:chOff x="0" y="0"/>
          <a:chExt cx="0" cy="0"/>
        </a:xfrm>
      </p:grpSpPr>
      <p:sp>
        <p:nvSpPr>
          <p:cNvPr id="2" name="TextBox 2"/>
          <p:cNvSpPr txBox="1"/>
          <p:nvPr/>
        </p:nvSpPr>
        <p:spPr>
          <a:xfrm>
            <a:off x="3182017" y="4495328"/>
            <a:ext cx="11923966" cy="1563044"/>
          </a:xfrm>
          <a:prstGeom prst="rect">
            <a:avLst/>
          </a:prstGeom>
        </p:spPr>
        <p:txBody>
          <a:bodyPr lIns="0" tIns="0" rIns="0" bIns="0" rtlCol="0" anchor="t">
            <a:spAutoFit/>
          </a:bodyPr>
          <a:lstStyle/>
          <a:p>
            <a:pPr algn="ctr">
              <a:lnSpc>
                <a:spcPts val="10460"/>
              </a:lnSpc>
            </a:pPr>
            <a:r>
              <a:rPr lang="en-US" sz="12023" b="1">
                <a:solidFill>
                  <a:srgbClr val="1C2120"/>
                </a:solidFill>
                <a:latin typeface="Poppins Bold"/>
                <a:ea typeface="Poppins Bold"/>
                <a:cs typeface="Poppins Bold"/>
                <a:sym typeface="Poppins Bold"/>
              </a:rPr>
              <a:t>Thank you </a:t>
            </a:r>
          </a:p>
        </p:txBody>
      </p:sp>
      <p:grpSp>
        <p:nvGrpSpPr>
          <p:cNvPr id="3" name="Group 3"/>
          <p:cNvGrpSpPr/>
          <p:nvPr/>
        </p:nvGrpSpPr>
        <p:grpSpPr>
          <a:xfrm>
            <a:off x="5455212" y="6516810"/>
            <a:ext cx="6983181" cy="669188"/>
            <a:chOff x="0" y="0"/>
            <a:chExt cx="1839192" cy="176247"/>
          </a:xfrm>
        </p:grpSpPr>
        <p:sp>
          <p:nvSpPr>
            <p:cNvPr id="4" name="Freeform 4"/>
            <p:cNvSpPr/>
            <p:nvPr/>
          </p:nvSpPr>
          <p:spPr>
            <a:xfrm>
              <a:off x="0" y="0"/>
              <a:ext cx="1839192" cy="176247"/>
            </a:xfrm>
            <a:custGeom>
              <a:avLst/>
              <a:gdLst/>
              <a:ahLst/>
              <a:cxnLst/>
              <a:rect l="l" t="t" r="r" b="b"/>
              <a:pathLst>
                <a:path w="1839192" h="176247">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id="5" name="TextBox 5"/>
            <p:cNvSpPr txBox="1"/>
            <p:nvPr/>
          </p:nvSpPr>
          <p:spPr>
            <a:xfrm>
              <a:off x="0" y="-38100"/>
              <a:ext cx="1839192" cy="214347"/>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1473</Words>
  <Application>Microsoft Office PowerPoint</Application>
  <PresentationFormat>Custom</PresentationFormat>
  <Paragraphs>153</Paragraphs>
  <Slides>20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20</vt:i4>
      </vt:variant>
    </vt:vector>
  </HeadingPairs>
  <TitlesOfParts>
    <vt:vector size="37" baseType="lpstr">
      <vt:lpstr>Canva Sans</vt:lpstr>
      <vt:lpstr>Public Sans Italics</vt:lpstr>
      <vt:lpstr>Public Sans</vt:lpstr>
      <vt:lpstr>Poppins Semi-Bold</vt:lpstr>
      <vt:lpstr>Open Sans Light</vt:lpstr>
      <vt:lpstr>Arial</vt:lpstr>
      <vt:lpstr>Canva Sans Bold</vt:lpstr>
      <vt:lpstr>Open Sans</vt:lpstr>
      <vt:lpstr>DM Sans</vt:lpstr>
      <vt:lpstr>Poppins Bold</vt:lpstr>
      <vt:lpstr>Public Sans Bold Italics</vt:lpstr>
      <vt:lpstr>Atkinson Hyperlegible Bold</vt:lpstr>
      <vt:lpstr>Calibri</vt:lpstr>
      <vt:lpstr>DM Sans Bold</vt:lpstr>
      <vt:lpstr>Poppins</vt:lpstr>
      <vt:lpstr>Public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 Review-2</dc:title>
  <cp:lastModifiedBy>Harish Veylan</cp:lastModifiedBy>
  <cp:revision>3</cp:revision>
  <dcterms:created xsi:type="dcterms:W3CDTF">2006-08-16T00:00:00Z</dcterms:created>
  <dcterms:modified xsi:type="dcterms:W3CDTF">2025-09-19T19:17:59Z</dcterms:modified>
  <dc:identifier>DAGykkYeGUk</dc:identifier>
</cp:coreProperties>
</file>